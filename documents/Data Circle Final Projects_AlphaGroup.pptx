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4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82" r:id="rId1"/>
    <p:sldMasterId id="2147483783" r:id="rId2"/>
    <p:sldMasterId id="2147483785" r:id="rId3"/>
    <p:sldMasterId id="2147483786" r:id="rId4"/>
    <p:sldMasterId id="2147483788" r:id="rId5"/>
  </p:sldMasterIdLst>
  <p:notesMasterIdLst>
    <p:notesMasterId r:id="rId22"/>
  </p:notesMasterIdLst>
  <p:sldIdLst>
    <p:sldId id="256" r:id="rId6"/>
    <p:sldId id="257" r:id="rId7"/>
    <p:sldId id="267" r:id="rId8"/>
    <p:sldId id="288" r:id="rId9"/>
    <p:sldId id="268" r:id="rId10"/>
    <p:sldId id="323" r:id="rId11"/>
    <p:sldId id="289" r:id="rId12"/>
    <p:sldId id="324" r:id="rId13"/>
    <p:sldId id="325" r:id="rId14"/>
    <p:sldId id="329" r:id="rId15"/>
    <p:sldId id="328" r:id="rId16"/>
    <p:sldId id="326" r:id="rId17"/>
    <p:sldId id="331" r:id="rId18"/>
    <p:sldId id="327" r:id="rId19"/>
    <p:sldId id="269" r:id="rId20"/>
    <p:sldId id="276" r:id="rId21"/>
  </p:sldIdLst>
  <p:sldSz cx="9144000" cy="5143500" type="screen16x9"/>
  <p:notesSz cx="6858000" cy="9144000"/>
  <p:embeddedFontLst>
    <p:embeddedFont>
      <p:font typeface="Roboto Light" panose="020B0604020202020204" charset="0"/>
      <p:regular r:id="rId23"/>
      <p:bold r:id="rId24"/>
      <p:italic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Roboto Medium" panose="020B0604020202020204" charset="0"/>
      <p:regular r:id="rId31"/>
      <p:bold r:id="rId32"/>
      <p:italic r:id="rId33"/>
      <p:boldItalic r:id="rId34"/>
    </p:embeddedFont>
    <p:embeddedFont>
      <p:font typeface="Merriweather" panose="020B0604020202020204" charset="0"/>
      <p:regular r:id="rId35"/>
      <p:bold r:id="rId36"/>
      <p:italic r:id="rId37"/>
      <p:boldItalic r:id="rId38"/>
    </p:embeddedFont>
    <p:embeddedFont>
      <p:font typeface="Roboto" panose="020B0604020202020204" charset="0"/>
      <p:regular r:id="rId39"/>
      <p:bold r:id="rId40"/>
      <p:italic r:id="rId41"/>
      <p:boldItalic r:id="rId42"/>
    </p:embeddedFont>
    <p:embeddedFont>
      <p:font typeface="Assistant Medium" panose="020B0604020202020204" charset="-79"/>
      <p:regular r:id="rId43"/>
      <p:bold r:id="rId44"/>
    </p:embeddedFont>
    <p:embeddedFont>
      <p:font typeface="Assistant" panose="020B0604020202020204" charset="-79"/>
      <p:regular r:id="rId45"/>
      <p:bold r:id="rId46"/>
    </p:embeddedFont>
    <p:embeddedFont>
      <p:font typeface="Proxima Nova" panose="020B060402020202020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AD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2D6B0D6-3FB0-403D-9B26-E7A1910D2555}">
  <a:tblStyle styleId="{B2D6B0D6-3FB0-403D-9B26-E7A1910D255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3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" y="15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16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font" Target="fonts/font25.fntdata"/><Relationship Id="rId50" Type="http://schemas.openxmlformats.org/officeDocument/2006/relationships/font" Target="fonts/font28.fntdata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font" Target="fonts/font7.fntdata"/><Relationship Id="rId11" Type="http://schemas.openxmlformats.org/officeDocument/2006/relationships/slide" Target="slides/slide6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font" Target="fonts/font23.fntdata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font" Target="fonts/font26.fntdata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font" Target="fonts/font24.fntdata"/><Relationship Id="rId20" Type="http://schemas.openxmlformats.org/officeDocument/2006/relationships/slide" Target="slides/slide15.xml"/><Relationship Id="rId41" Type="http://schemas.openxmlformats.org/officeDocument/2006/relationships/font" Target="fonts/font19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openxmlformats.org/officeDocument/2006/relationships/font" Target="fonts/font2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03356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1d4160830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31d4160830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4270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1d3c4a5c80_0_1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1d3c4a5c80_0_1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2900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1d3c4a5c80_0_1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g31d3c4a5c80_0_1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0528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1d3c4a5c80_0_17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7" name="Google Shape;1197;g31d3c4a5c80_0_17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4886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1d3c4a5c80_0_1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8" name="Google Shape;998;g31d3c4a5c80_0_1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1740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1d3c4a5c80_0_1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8" name="Google Shape;998;g31d3c4a5c80_0_1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9997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1d3c4a5c80_0_17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5" name="Google Shape;1205;g31d3c4a5c80_0_17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028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1d3c4a5c80_0_1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g31d3c4a5c80_0_1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2057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1d3c4a5c80_0_1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g31d3c4a5c80_0_1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7793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1d3c4a5c80_0_1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8" name="Google Shape;998;g31d3c4a5c80_0_1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0329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1d3c4a5c80_0_1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8" name="Google Shape;998;g31d3c4a5c80_0_1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6266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1d3c4a5c80_0_1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g31d3c4a5c80_0_1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7046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1d3c4a5c80_0_1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g31d3c4a5c80_0_1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727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1d3c4a5c80_0_1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g31d3c4a5c80_0_1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25726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1d3c4a5c80_0_1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4" name="Google Shape;1014;g31d3c4a5c80_0_1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8307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1d3c4a5c80_0_1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1d3c4a5c80_0_16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1863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2" name="Google Shape;62;p14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63" name="Google Shape;63;p14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4" name="Google Shape;64;p14"/>
            <p:cNvPicPr preferRelativeResize="0"/>
            <p:nvPr/>
          </p:nvPicPr>
          <p:blipFill rotWithShape="1">
            <a:blip r:embed="rId2">
              <a:alphaModFix/>
            </a:blip>
            <a:srcRect l="377" r="387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" name="Google Shape;65;p14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1" name="Google Shape;71;p14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r>
              <a:rPr lang="en" sz="1000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ubTitle" idx="1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9" name="Google Shape;79;p15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r>
              <a:rPr lang="en" sz="1000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1" name="Google Shape;81;p15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15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83" name="Google Shape;83;p15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4" name="Google Shape;84;p15"/>
            <p:cNvPicPr preferRelativeResize="0"/>
            <p:nvPr/>
          </p:nvPicPr>
          <p:blipFill rotWithShape="1">
            <a:blip r:embed="rId2">
              <a:alphaModFix/>
            </a:blip>
            <a:srcRect l="377" r="387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>
  <p:cSld name="SECTION_HEADER">
    <p:bg>
      <p:bgPr>
        <a:noFill/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bg>
      <p:bgPr>
        <a:noFill/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noFill/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x">
  <p:cSld name="TITLE_AND_BOD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1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1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2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2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3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ontact">
  <p:cSld name="MAIN_POINT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6" name="Google Shape;146;p27"/>
          <p:cNvGrpSpPr/>
          <p:nvPr/>
        </p:nvGrpSpPr>
        <p:grpSpPr>
          <a:xfrm rot="2700000">
            <a:off x="585683" y="481417"/>
            <a:ext cx="694882" cy="564848"/>
            <a:chOff x="919500" y="1916075"/>
            <a:chExt cx="1067700" cy="867900"/>
          </a:xfrm>
        </p:grpSpPr>
        <p:sp>
          <p:nvSpPr>
            <p:cNvPr id="147" name="Google Shape;147;p27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" name="Google Shape;149;p27"/>
          <p:cNvGrpSpPr/>
          <p:nvPr/>
        </p:nvGrpSpPr>
        <p:grpSpPr>
          <a:xfrm rot="8100000">
            <a:off x="7746888" y="3437645"/>
            <a:ext cx="912919" cy="742084"/>
            <a:chOff x="521400" y="3135325"/>
            <a:chExt cx="1067700" cy="867900"/>
          </a:xfrm>
        </p:grpSpPr>
        <p:sp>
          <p:nvSpPr>
            <p:cNvPr id="150" name="Google Shape;150;p27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subTitle" idx="1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2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body" idx="1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 hasCustomPrompt="1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4" name="Google Shape;164;p30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_NUMBER_1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>
            <a:spLocks noGrp="1"/>
          </p:cNvSpPr>
          <p:nvPr>
            <p:ph type="title" hasCustomPrompt="1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8" name="Google Shape;168;p31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title" idx="2" hasCustomPrompt="1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1" name="Google Shape;171;p31"/>
          <p:cNvSpPr txBox="1">
            <a:spLocks noGrp="1"/>
          </p:cNvSpPr>
          <p:nvPr>
            <p:ph type="body" idx="3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title" idx="4" hasCustomPrompt="1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3" name="Google Shape;173;p31"/>
          <p:cNvSpPr txBox="1">
            <a:spLocks noGrp="1"/>
          </p:cNvSpPr>
          <p:nvPr>
            <p:ph type="body" idx="5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>
  <p:cSld name="Titel und Inhalt">
    <p:bg>
      <p:bgPr>
        <a:solidFill>
          <a:schemeClr val="lt1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>
            <a:spLocks noGrp="1"/>
          </p:cNvSpPr>
          <p:nvPr>
            <p:ph type="sldNum" idx="12"/>
          </p:nvPr>
        </p:nvSpPr>
        <p:spPr>
          <a:xfrm>
            <a:off x="540000" y="4726558"/>
            <a:ext cx="241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	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Salesfive Consulting GmbH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3"/>
          <p:cNvSpPr txBox="1">
            <a:spLocks noGrp="1"/>
          </p:cNvSpPr>
          <p:nvPr>
            <p:ph type="body" idx="1"/>
          </p:nvPr>
        </p:nvSpPr>
        <p:spPr>
          <a:xfrm>
            <a:off x="540000" y="754732"/>
            <a:ext cx="4831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33"/>
          <p:cNvSpPr txBox="1">
            <a:spLocks noGrp="1"/>
          </p:cNvSpPr>
          <p:nvPr>
            <p:ph type="body" idx="2"/>
          </p:nvPr>
        </p:nvSpPr>
        <p:spPr>
          <a:xfrm>
            <a:off x="540000" y="573528"/>
            <a:ext cx="48318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C8C8C8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C8C8C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0" name="Google Shape;18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1615" y="4768979"/>
            <a:ext cx="628384" cy="1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3"/>
          <p:cNvSpPr txBox="1">
            <a:spLocks noGrp="1"/>
          </p:cNvSpPr>
          <p:nvPr>
            <p:ph type="body" idx="3"/>
          </p:nvPr>
        </p:nvSpPr>
        <p:spPr>
          <a:xfrm>
            <a:off x="540000" y="1491854"/>
            <a:ext cx="67500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05050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1">
  <p:cSld name="TITLE_1_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/>
          <p:nvPr/>
        </p:nvSpPr>
        <p:spPr>
          <a:xfrm>
            <a:off x="0" y="-3050"/>
            <a:ext cx="9144000" cy="5143500"/>
          </a:xfrm>
          <a:prstGeom prst="rect">
            <a:avLst/>
          </a:prstGeom>
          <a:solidFill>
            <a:srgbClr val="58ADC5"/>
          </a:solidFill>
          <a:ln w="38100" cap="flat" cmpd="sng">
            <a:solidFill>
              <a:srgbClr val="58AD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" name="Google Shape;184;p34"/>
          <p:cNvGrpSpPr/>
          <p:nvPr/>
        </p:nvGrpSpPr>
        <p:grpSpPr>
          <a:xfrm>
            <a:off x="8638982" y="104318"/>
            <a:ext cx="401181" cy="515668"/>
            <a:chOff x="-1" y="-1"/>
            <a:chExt cx="1210200" cy="1615500"/>
          </a:xfrm>
        </p:grpSpPr>
        <p:sp>
          <p:nvSpPr>
            <p:cNvPr id="185" name="Google Shape;185;p34"/>
            <p:cNvSpPr/>
            <p:nvPr/>
          </p:nvSpPr>
          <p:spPr>
            <a:xfrm>
              <a:off x="-1" y="-1"/>
              <a:ext cx="1210200" cy="161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dist="25400" dir="5400000" rotWithShape="0">
                <a:srgbClr val="000000">
                  <a:alpha val="49410"/>
                </a:srgbClr>
              </a:outerShdw>
            </a:effectLst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endPara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6" name="Google Shape;186;p34" descr="Grafik 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9038" y="85734"/>
              <a:ext cx="1012047" cy="14440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79125" rIns="79125" bIns="79125" anchor="ctr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3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9pPr>
          </a:lstStyle>
          <a:p>
            <a:endParaRPr/>
          </a:p>
        </p:txBody>
      </p:sp>
      <p:sp>
        <p:nvSpPr>
          <p:cNvPr id="189" name="Google Shape;189;p3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79125" rIns="79125" bIns="79125" anchor="t" anchorCtr="0">
            <a:norm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»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0" name="Google Shape;190;p35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79125" rIns="79125" bIns="791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1" name="Google Shape;191;p3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79125" rIns="79125" bIns="791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2" name="Google Shape;192;p35"/>
          <p:cNvSpPr txBox="1">
            <a:spLocks noGrp="1"/>
          </p:cNvSpPr>
          <p:nvPr>
            <p:ph type="sldNum" idx="12"/>
          </p:nvPr>
        </p:nvSpPr>
        <p:spPr>
          <a:xfrm>
            <a:off x="6553201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1pPr>
            <a:lvl2pPr marL="914400" lvl="1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2pPr>
            <a:lvl3pPr marL="1371600" lvl="2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3pPr>
            <a:lvl4pPr marL="1828800" lvl="3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4pPr>
            <a:lvl5pPr marL="2286000" lvl="4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5pPr>
            <a:lvl6pPr marL="2743200" lvl="5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6pPr>
            <a:lvl7pPr marL="3200400" lvl="6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7pPr>
            <a:lvl8pPr marL="3657600" lvl="7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8pPr>
            <a:lvl9pPr marL="4114800" lvl="8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96" name="Google Shape;196;p36"/>
          <p:cNvSpPr txBox="1">
            <a:spLocks noGrp="1"/>
          </p:cNvSpPr>
          <p:nvPr>
            <p:ph type="sldNum" idx="12"/>
          </p:nvPr>
        </p:nvSpPr>
        <p:spPr>
          <a:xfrm>
            <a:off x="8322127" y="4803219"/>
            <a:ext cx="193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8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efault 1">
  <p:cSld name="TITLE_AND_BODY_9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>
            <a:spLocks noGrp="1"/>
          </p:cNvSpPr>
          <p:nvPr>
            <p:ph type="sldNum" idx="12"/>
          </p:nvPr>
        </p:nvSpPr>
        <p:spPr>
          <a:xfrm>
            <a:off x="8588391" y="4721996"/>
            <a:ext cx="1809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ctr" anchorCtr="0">
            <a:normAutofit lnSpcReduction="1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x">
  <p:cSld name="TITLE_AND_BODY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6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66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1" name="Google Shape;381;p6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noFill/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9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9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69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69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6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4" name="Google Shape;404;p6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0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70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70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70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70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70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2" name="Google Shape;412;p7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1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1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71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71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7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7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0" name="Google Shape;420;p7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2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72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4" name="Google Shape;424;p72"/>
          <p:cNvSpPr txBox="1">
            <a:spLocks noGrp="1"/>
          </p:cNvSpPr>
          <p:nvPr>
            <p:ph type="body" idx="2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5" name="Google Shape;425;p7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73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9" name="Google Shape;429;p7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73"/>
          <p:cNvSpPr txBox="1">
            <a:spLocks noGrp="1"/>
          </p:cNvSpPr>
          <p:nvPr>
            <p:ph type="body" idx="2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1" name="Google Shape;431;p73"/>
          <p:cNvSpPr txBox="1">
            <a:spLocks noGrp="1"/>
          </p:cNvSpPr>
          <p:nvPr>
            <p:ph type="body" idx="3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4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7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7" name="Google Shape;437;p75"/>
          <p:cNvSpPr txBox="1">
            <a:spLocks noGrp="1"/>
          </p:cNvSpPr>
          <p:nvPr>
            <p:ph type="body" idx="1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8" name="Google Shape;438;p7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6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41" name="Google Shape;441;p7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ontact">
  <p:cSld name="MAIN_POINT_1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44" name="Google Shape;444;p77"/>
          <p:cNvGrpSpPr/>
          <p:nvPr/>
        </p:nvGrpSpPr>
        <p:grpSpPr>
          <a:xfrm rot="2700000">
            <a:off x="585684" y="481416"/>
            <a:ext cx="694882" cy="564848"/>
            <a:chOff x="919500" y="1916075"/>
            <a:chExt cx="1067700" cy="867900"/>
          </a:xfrm>
        </p:grpSpPr>
        <p:sp>
          <p:nvSpPr>
            <p:cNvPr id="445" name="Google Shape;445;p77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77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7" name="Google Shape;447;p77"/>
          <p:cNvGrpSpPr/>
          <p:nvPr/>
        </p:nvGrpSpPr>
        <p:grpSpPr>
          <a:xfrm rot="8100000">
            <a:off x="7746889" y="3437647"/>
            <a:ext cx="912919" cy="742084"/>
            <a:chOff x="521400" y="3135325"/>
            <a:chExt cx="1067700" cy="867900"/>
          </a:xfrm>
        </p:grpSpPr>
        <p:sp>
          <p:nvSpPr>
            <p:cNvPr id="448" name="Google Shape;448;p77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77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0" name="Google Shape;450;p77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78"/>
          <p:cNvSpPr txBox="1">
            <a:spLocks noGrp="1"/>
          </p:cNvSpPr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454" name="Google Shape;454;p78"/>
          <p:cNvSpPr txBox="1">
            <a:spLocks noGrp="1"/>
          </p:cNvSpPr>
          <p:nvPr>
            <p:ph type="subTitle" idx="1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5" name="Google Shape;455;p78"/>
          <p:cNvSpPr txBox="1">
            <a:spLocks noGrp="1"/>
          </p:cNvSpPr>
          <p:nvPr>
            <p:ph type="body" idx="2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6" name="Google Shape;456;p7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9"/>
          <p:cNvSpPr txBox="1">
            <a:spLocks noGrp="1"/>
          </p:cNvSpPr>
          <p:nvPr>
            <p:ph type="body" idx="1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>
            <a:endParaRPr/>
          </a:p>
        </p:txBody>
      </p:sp>
      <p:sp>
        <p:nvSpPr>
          <p:cNvPr id="459" name="Google Shape;459;p7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0"/>
          <p:cNvSpPr txBox="1">
            <a:spLocks noGrp="1"/>
          </p:cNvSpPr>
          <p:nvPr>
            <p:ph type="title" hasCustomPrompt="1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2" name="Google Shape;462;p80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3" name="Google Shape;463;p8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_NUMBER_1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1"/>
          <p:cNvSpPr txBox="1">
            <a:spLocks noGrp="1"/>
          </p:cNvSpPr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466" name="Google Shape;466;p81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7" name="Google Shape;467;p8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8" name="Google Shape;468;p81"/>
          <p:cNvSpPr txBox="1">
            <a:spLocks noGrp="1"/>
          </p:cNvSpPr>
          <p:nvPr>
            <p:ph type="title" idx="2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469" name="Google Shape;469;p81"/>
          <p:cNvSpPr txBox="1">
            <a:spLocks noGrp="1"/>
          </p:cNvSpPr>
          <p:nvPr>
            <p:ph type="body" idx="3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0" name="Google Shape;470;p81"/>
          <p:cNvSpPr txBox="1">
            <a:spLocks noGrp="1"/>
          </p:cNvSpPr>
          <p:nvPr>
            <p:ph type="title" idx="4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471" name="Google Shape;471;p81"/>
          <p:cNvSpPr txBox="1">
            <a:spLocks noGrp="1"/>
          </p:cNvSpPr>
          <p:nvPr>
            <p:ph type="body" idx="5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8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>
  <p:cSld name="SECTION_HEADER">
    <p:bg>
      <p:bgPr>
        <a:noFill/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8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8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8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1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7"/>
          <p:cNvSpPr txBox="1">
            <a:spLocks noGrp="1"/>
          </p:cNvSpPr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07" name="Google Shape;507;p87"/>
          <p:cNvSpPr txBox="1">
            <a:spLocks noGrp="1"/>
          </p:cNvSpPr>
          <p:nvPr>
            <p:ph type="subTitle" idx="1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08" name="Google Shape;508;p8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9" name="Google Shape;509;p87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87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11" name="Google Shape;511;p87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lang="en" sz="1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12" name="Google Shape;512;p87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513" name="Google Shape;513;p87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4" name="Google Shape;514;p87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515" name="Google Shape;515;p87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6" name="Google Shape;516;p87"/>
            <p:cNvPicPr preferRelativeResize="0"/>
            <p:nvPr/>
          </p:nvPicPr>
          <p:blipFill rotWithShape="1">
            <a:blip r:embed="rId2">
              <a:alphaModFix/>
            </a:blip>
            <a:srcRect l="377" r="387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bg>
      <p:bgPr>
        <a:noFill/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8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88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88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88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88"/>
          <p:cNvSpPr txBox="1">
            <a:spLocks noGrp="1"/>
          </p:cNvSpPr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23" name="Google Shape;523;p8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noFill/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9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89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89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89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8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0" name="Google Shape;530;p8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90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90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90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90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90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7" name="Google Shape;537;p90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8" name="Google Shape;538;p9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_1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1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91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91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91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9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9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6" name="Google Shape;546;p9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92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9" name="Google Shape;549;p92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50" name="Google Shape;550;p92"/>
          <p:cNvSpPr txBox="1">
            <a:spLocks noGrp="1"/>
          </p:cNvSpPr>
          <p:nvPr>
            <p:ph type="body" idx="2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51" name="Google Shape;551;p9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4" name="Google Shape;554;p93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55" name="Google Shape;555;p9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6" name="Google Shape;556;p93"/>
          <p:cNvSpPr txBox="1">
            <a:spLocks noGrp="1"/>
          </p:cNvSpPr>
          <p:nvPr>
            <p:ph type="body" idx="2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57" name="Google Shape;557;p93"/>
          <p:cNvSpPr txBox="1">
            <a:spLocks noGrp="1"/>
          </p:cNvSpPr>
          <p:nvPr>
            <p:ph type="body" idx="3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94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9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3" name="Google Shape;563;p95"/>
          <p:cNvSpPr txBox="1">
            <a:spLocks noGrp="1"/>
          </p:cNvSpPr>
          <p:nvPr>
            <p:ph type="body" idx="1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64" name="Google Shape;564;p9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96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67" name="Google Shape;567;p9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ontact">
  <p:cSld name="MAIN_POINT_1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70" name="Google Shape;570;p97"/>
          <p:cNvGrpSpPr/>
          <p:nvPr/>
        </p:nvGrpSpPr>
        <p:grpSpPr>
          <a:xfrm rot="2700000">
            <a:off x="585684" y="481416"/>
            <a:ext cx="694882" cy="564848"/>
            <a:chOff x="919500" y="1916075"/>
            <a:chExt cx="1067700" cy="867900"/>
          </a:xfrm>
        </p:grpSpPr>
        <p:sp>
          <p:nvSpPr>
            <p:cNvPr id="571" name="Google Shape;571;p97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97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3" name="Google Shape;573;p97"/>
          <p:cNvGrpSpPr/>
          <p:nvPr/>
        </p:nvGrpSpPr>
        <p:grpSpPr>
          <a:xfrm rot="8100000">
            <a:off x="7746889" y="3437647"/>
            <a:ext cx="912919" cy="742084"/>
            <a:chOff x="521400" y="3135325"/>
            <a:chExt cx="1067700" cy="867900"/>
          </a:xfrm>
        </p:grpSpPr>
        <p:sp>
          <p:nvSpPr>
            <p:cNvPr id="574" name="Google Shape;574;p97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97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6" name="Google Shape;576;p97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98"/>
          <p:cNvSpPr txBox="1">
            <a:spLocks noGrp="1"/>
          </p:cNvSpPr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580" name="Google Shape;580;p98"/>
          <p:cNvSpPr txBox="1">
            <a:spLocks noGrp="1"/>
          </p:cNvSpPr>
          <p:nvPr>
            <p:ph type="subTitle" idx="1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1" name="Google Shape;581;p98"/>
          <p:cNvSpPr txBox="1">
            <a:spLocks noGrp="1"/>
          </p:cNvSpPr>
          <p:nvPr>
            <p:ph type="body" idx="2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2" name="Google Shape;582;p9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99"/>
          <p:cNvSpPr txBox="1">
            <a:spLocks noGrp="1"/>
          </p:cNvSpPr>
          <p:nvPr>
            <p:ph type="body" idx="1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>
            <a:endParaRPr/>
          </a:p>
        </p:txBody>
      </p:sp>
      <p:sp>
        <p:nvSpPr>
          <p:cNvPr id="585" name="Google Shape;585;p9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"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00"/>
          <p:cNvSpPr txBox="1">
            <a:spLocks noGrp="1"/>
          </p:cNvSpPr>
          <p:nvPr>
            <p:ph type="title" hasCustomPrompt="1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8" name="Google Shape;588;p100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9" name="Google Shape;589;p10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_NUMBER_1"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01"/>
          <p:cNvSpPr txBox="1">
            <a:spLocks noGrp="1"/>
          </p:cNvSpPr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92" name="Google Shape;592;p101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3" name="Google Shape;593;p10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4" name="Google Shape;594;p101"/>
          <p:cNvSpPr txBox="1">
            <a:spLocks noGrp="1"/>
          </p:cNvSpPr>
          <p:nvPr>
            <p:ph type="title" idx="2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95" name="Google Shape;595;p101"/>
          <p:cNvSpPr txBox="1">
            <a:spLocks noGrp="1"/>
          </p:cNvSpPr>
          <p:nvPr>
            <p:ph type="body" idx="3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6" name="Google Shape;596;p101"/>
          <p:cNvSpPr txBox="1">
            <a:spLocks noGrp="1"/>
          </p:cNvSpPr>
          <p:nvPr>
            <p:ph type="title" idx="4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97" name="Google Shape;597;p101"/>
          <p:cNvSpPr txBox="1">
            <a:spLocks noGrp="1"/>
          </p:cNvSpPr>
          <p:nvPr>
            <p:ph type="body" idx="5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0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>
  <p:cSld name="Titel und Inhalt">
    <p:bg>
      <p:bgPr>
        <a:solidFill>
          <a:schemeClr val="lt1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03"/>
          <p:cNvSpPr txBox="1">
            <a:spLocks noGrp="1"/>
          </p:cNvSpPr>
          <p:nvPr>
            <p:ph type="sldNum" idx="12"/>
          </p:nvPr>
        </p:nvSpPr>
        <p:spPr>
          <a:xfrm>
            <a:off x="540000" y="4726558"/>
            <a:ext cx="241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	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Salesfive Consulting GmbH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03"/>
          <p:cNvSpPr txBox="1">
            <a:spLocks noGrp="1"/>
          </p:cNvSpPr>
          <p:nvPr>
            <p:ph type="body" idx="1"/>
          </p:nvPr>
        </p:nvSpPr>
        <p:spPr>
          <a:xfrm>
            <a:off x="540000" y="754732"/>
            <a:ext cx="4831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3" name="Google Shape;603;p103"/>
          <p:cNvSpPr txBox="1">
            <a:spLocks noGrp="1"/>
          </p:cNvSpPr>
          <p:nvPr>
            <p:ph type="body" idx="2"/>
          </p:nvPr>
        </p:nvSpPr>
        <p:spPr>
          <a:xfrm>
            <a:off x="540000" y="573528"/>
            <a:ext cx="48318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C8C8C8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C8C8C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04" name="Google Shape;604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1615" y="4768979"/>
            <a:ext cx="628384" cy="1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103"/>
          <p:cNvSpPr txBox="1">
            <a:spLocks noGrp="1"/>
          </p:cNvSpPr>
          <p:nvPr>
            <p:ph type="body" idx="3"/>
          </p:nvPr>
        </p:nvSpPr>
        <p:spPr>
          <a:xfrm>
            <a:off x="540000" y="1491854"/>
            <a:ext cx="67500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05050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1">
  <p:cSld name="TITLE_1_1"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04"/>
          <p:cNvSpPr/>
          <p:nvPr/>
        </p:nvSpPr>
        <p:spPr>
          <a:xfrm>
            <a:off x="0" y="-3050"/>
            <a:ext cx="9144000" cy="5143500"/>
          </a:xfrm>
          <a:prstGeom prst="rect">
            <a:avLst/>
          </a:prstGeom>
          <a:solidFill>
            <a:srgbClr val="58ADC5"/>
          </a:solidFill>
          <a:ln w="38100" cap="flat" cmpd="sng">
            <a:solidFill>
              <a:srgbClr val="58AD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8" name="Google Shape;608;p104"/>
          <p:cNvGrpSpPr/>
          <p:nvPr/>
        </p:nvGrpSpPr>
        <p:grpSpPr>
          <a:xfrm>
            <a:off x="8638982" y="104318"/>
            <a:ext cx="401181" cy="515668"/>
            <a:chOff x="-1" y="-1"/>
            <a:chExt cx="1210200" cy="1615500"/>
          </a:xfrm>
        </p:grpSpPr>
        <p:sp>
          <p:nvSpPr>
            <p:cNvPr id="609" name="Google Shape;609;p104"/>
            <p:cNvSpPr/>
            <p:nvPr/>
          </p:nvSpPr>
          <p:spPr>
            <a:xfrm>
              <a:off x="-1" y="-1"/>
              <a:ext cx="1210200" cy="161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dist="25400" dir="5400000" rotWithShape="0">
                <a:srgbClr val="000000">
                  <a:alpha val="49020"/>
                </a:srgbClr>
              </a:outerShdw>
            </a:effectLst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endPara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0" name="Google Shape;610;p104" descr="Grafik 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9038" y="85734"/>
              <a:ext cx="1012047" cy="14440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0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79125" rIns="79125" bIns="79125" anchor="ctr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3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9pPr>
          </a:lstStyle>
          <a:p>
            <a:endParaRPr/>
          </a:p>
        </p:txBody>
      </p:sp>
      <p:sp>
        <p:nvSpPr>
          <p:cNvPr id="613" name="Google Shape;613;p10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79125" rIns="79125" bIns="79125" anchor="t" anchorCtr="0">
            <a:norm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»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4" name="Google Shape;614;p105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79125" rIns="79125" bIns="791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5" name="Google Shape;615;p10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79125" rIns="79125" bIns="791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6" name="Google Shape;616;p105"/>
          <p:cNvSpPr txBox="1">
            <a:spLocks noGrp="1"/>
          </p:cNvSpPr>
          <p:nvPr>
            <p:ph type="sldNum" idx="12"/>
          </p:nvPr>
        </p:nvSpPr>
        <p:spPr>
          <a:xfrm>
            <a:off x="6553201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0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19" name="Google Shape;619;p10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1pPr>
            <a:lvl2pPr marL="914400" lvl="1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2pPr>
            <a:lvl3pPr marL="1371600" lvl="2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3pPr>
            <a:lvl4pPr marL="1828800" lvl="3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4pPr>
            <a:lvl5pPr marL="2286000" lvl="4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5pPr>
            <a:lvl6pPr marL="2743200" lvl="5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6pPr>
            <a:lvl7pPr marL="3200400" lvl="6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7pPr>
            <a:lvl8pPr marL="3657600" lvl="7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8pPr>
            <a:lvl9pPr marL="4114800" lvl="8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620" name="Google Shape;620;p106"/>
          <p:cNvSpPr txBox="1">
            <a:spLocks noGrp="1"/>
          </p:cNvSpPr>
          <p:nvPr>
            <p:ph type="sldNum" idx="12"/>
          </p:nvPr>
        </p:nvSpPr>
        <p:spPr>
          <a:xfrm>
            <a:off x="8322127" y="4803219"/>
            <a:ext cx="193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8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efault 1">
  <p:cSld name="TITLE_AND_BODY_9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07"/>
          <p:cNvSpPr txBox="1">
            <a:spLocks noGrp="1"/>
          </p:cNvSpPr>
          <p:nvPr>
            <p:ph type="sldNum" idx="12"/>
          </p:nvPr>
        </p:nvSpPr>
        <p:spPr>
          <a:xfrm>
            <a:off x="8588391" y="4721996"/>
            <a:ext cx="1809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ctr" anchorCtr="0">
            <a:normAutofit lnSpcReduction="1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1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9" name="Google Shape;639;p1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1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1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14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644" name="Google Shape;644;p114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645" name="Google Shape;645;p114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6" name="Google Shape;646;p1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15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15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50" name="Google Shape;650;p115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651" name="Google Shape;651;p11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2" name="Google Shape;652;p115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53" name="Google Shape;653;p1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1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7" name="Google Shape;657;p1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58" name="Google Shape;658;p1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59" name="Google Shape;659;p1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17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1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3" name="Google Shape;663;p1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18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1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7" name="Google Shape;667;p118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68" name="Google Shape;668;p1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19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71" name="Google Shape;671;p1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2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20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5" name="Google Shape;675;p120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76" name="Google Shape;676;p120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77" name="Google Shape;677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21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21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681" name="Google Shape;681;p1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22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4" name="Google Shape;684;p122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85" name="Google Shape;685;p1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37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71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9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sz="28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7157996" y="4762665"/>
            <a:ext cx="1308600" cy="27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8458848" y="343116"/>
            <a:ext cx="381300" cy="576000"/>
            <a:chOff x="8458848" y="343116"/>
            <a:chExt cx="381300" cy="576000"/>
          </a:xfrm>
        </p:grpSpPr>
        <p:sp>
          <p:nvSpPr>
            <p:cNvPr id="56" name="Google Shape;56;p13"/>
            <p:cNvSpPr/>
            <p:nvPr/>
          </p:nvSpPr>
          <p:spPr>
            <a:xfrm>
              <a:off x="8458848" y="343116"/>
              <a:ext cx="381300" cy="57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7" name="Google Shape;57;p13"/>
            <p:cNvPicPr preferRelativeResize="0"/>
            <p:nvPr/>
          </p:nvPicPr>
          <p:blipFill rotWithShape="1">
            <a:blip r:embed="rId26">
              <a:alphaModFix/>
            </a:blip>
            <a:srcRect l="79" r="79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sz="28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63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352" name="Google Shape;352;p6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3" name="Google Shape;353;p63"/>
          <p:cNvGrpSpPr/>
          <p:nvPr/>
        </p:nvGrpSpPr>
        <p:grpSpPr>
          <a:xfrm>
            <a:off x="8458848" y="343116"/>
            <a:ext cx="381300" cy="576000"/>
            <a:chOff x="8458848" y="343116"/>
            <a:chExt cx="381300" cy="576000"/>
          </a:xfrm>
        </p:grpSpPr>
        <p:sp>
          <p:nvSpPr>
            <p:cNvPr id="354" name="Google Shape;354;p63"/>
            <p:cNvSpPr/>
            <p:nvPr/>
          </p:nvSpPr>
          <p:spPr>
            <a:xfrm>
              <a:off x="8458848" y="343116"/>
              <a:ext cx="381300" cy="57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5" name="Google Shape;355;p63"/>
            <p:cNvPicPr preferRelativeResize="0"/>
            <p:nvPr/>
          </p:nvPicPr>
          <p:blipFill rotWithShape="1">
            <a:blip r:embed="rId17">
              <a:alphaModFix/>
            </a:blip>
            <a:srcRect l="79" r="79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8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sz="28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6" name="Google Shape;476;p83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477" name="Google Shape;477;p8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83"/>
          <p:cNvSpPr/>
          <p:nvPr/>
        </p:nvSpPr>
        <p:spPr>
          <a:xfrm>
            <a:off x="7157996" y="4762665"/>
            <a:ext cx="1308600" cy="27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9" name="Google Shape;479;p83"/>
          <p:cNvGrpSpPr/>
          <p:nvPr/>
        </p:nvGrpSpPr>
        <p:grpSpPr>
          <a:xfrm>
            <a:off x="8458848" y="343116"/>
            <a:ext cx="381300" cy="576000"/>
            <a:chOff x="8458848" y="343116"/>
            <a:chExt cx="381300" cy="576000"/>
          </a:xfrm>
        </p:grpSpPr>
        <p:sp>
          <p:nvSpPr>
            <p:cNvPr id="480" name="Google Shape;480;p83"/>
            <p:cNvSpPr/>
            <p:nvPr/>
          </p:nvSpPr>
          <p:spPr>
            <a:xfrm>
              <a:off x="8458848" y="343116"/>
              <a:ext cx="381300" cy="57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1" name="Google Shape;481;p83"/>
            <p:cNvPicPr preferRelativeResize="0"/>
            <p:nvPr/>
          </p:nvPicPr>
          <p:blipFill rotWithShape="1">
            <a:blip r:embed="rId24">
              <a:alphaModFix/>
            </a:blip>
            <a:srcRect l="79" r="79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27" name="Google Shape;627;p1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28" name="Google Shape;628;p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2" name="Google Shape;882;p143"/>
          <p:cNvGrpSpPr/>
          <p:nvPr/>
        </p:nvGrpSpPr>
        <p:grpSpPr>
          <a:xfrm>
            <a:off x="0" y="-7000"/>
            <a:ext cx="9197375" cy="5161900"/>
            <a:chOff x="0" y="-7000"/>
            <a:chExt cx="9197375" cy="5161900"/>
          </a:xfrm>
        </p:grpSpPr>
        <p:sp>
          <p:nvSpPr>
            <p:cNvPr id="883" name="Google Shape;883;p143"/>
            <p:cNvSpPr/>
            <p:nvPr/>
          </p:nvSpPr>
          <p:spPr>
            <a:xfrm>
              <a:off x="7000" y="-7000"/>
              <a:ext cx="9144000" cy="2559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43"/>
            <p:cNvSpPr/>
            <p:nvPr/>
          </p:nvSpPr>
          <p:spPr>
            <a:xfrm>
              <a:off x="0" y="0"/>
              <a:ext cx="219600" cy="51549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43"/>
            <p:cNvSpPr/>
            <p:nvPr/>
          </p:nvSpPr>
          <p:spPr>
            <a:xfrm>
              <a:off x="7000" y="4798125"/>
              <a:ext cx="9144000" cy="3567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43"/>
            <p:cNvSpPr/>
            <p:nvPr/>
          </p:nvSpPr>
          <p:spPr>
            <a:xfrm>
              <a:off x="6400750" y="2400375"/>
              <a:ext cx="2743242" cy="2743120"/>
            </a:xfrm>
            <a:custGeom>
              <a:avLst/>
              <a:gdLst/>
              <a:ahLst/>
              <a:cxnLst/>
              <a:rect l="l" t="t" r="r" b="b"/>
              <a:pathLst>
                <a:path w="73158" h="73145" extrusionOk="0">
                  <a:moveTo>
                    <a:pt x="73158" y="73107"/>
                  </a:moveTo>
                  <a:lnTo>
                    <a:pt x="73158" y="0"/>
                  </a:lnTo>
                  <a:lnTo>
                    <a:pt x="0" y="73145"/>
                  </a:lnTo>
                  <a:close/>
                </a:path>
              </a:pathLst>
            </a:custGeom>
            <a:solidFill>
              <a:srgbClr val="58ADC5"/>
            </a:solidFill>
            <a:ln>
              <a:noFill/>
            </a:ln>
          </p:spPr>
        </p:sp>
        <p:sp>
          <p:nvSpPr>
            <p:cNvPr id="887" name="Google Shape;887;p143"/>
            <p:cNvSpPr txBox="1"/>
            <p:nvPr/>
          </p:nvSpPr>
          <p:spPr>
            <a:xfrm rot="-2700000">
              <a:off x="6647467" y="3651017"/>
              <a:ext cx="2757716" cy="5545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865"/>
                <a:buNone/>
              </a:pPr>
              <a:r>
                <a:rPr lang="en" sz="1000" b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We use tech to connect human potential and opportunity with dignity &amp; humility   </a:t>
              </a:r>
              <a:endParaRPr sz="1000" b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888" name="Google Shape;888;p143"/>
            <p:cNvSpPr/>
            <p:nvPr/>
          </p:nvSpPr>
          <p:spPr>
            <a:xfrm>
              <a:off x="8414775" y="4244650"/>
              <a:ext cx="418647" cy="418572"/>
            </a:xfrm>
            <a:custGeom>
              <a:avLst/>
              <a:gdLst/>
              <a:ahLst/>
              <a:cxnLst/>
              <a:rect l="l" t="t" r="r" b="b"/>
              <a:pathLst>
                <a:path w="73158" h="73145" extrusionOk="0">
                  <a:moveTo>
                    <a:pt x="73158" y="73107"/>
                  </a:moveTo>
                  <a:lnTo>
                    <a:pt x="73158" y="0"/>
                  </a:lnTo>
                  <a:lnTo>
                    <a:pt x="0" y="73145"/>
                  </a:lnTo>
                  <a:close/>
                </a:path>
              </a:pathLst>
            </a:custGeom>
            <a:solidFill>
              <a:srgbClr val="EA5B25"/>
            </a:solidFill>
            <a:ln>
              <a:noFill/>
            </a:ln>
          </p:spPr>
        </p:sp>
        <p:sp>
          <p:nvSpPr>
            <p:cNvPr id="889" name="Google Shape;889;p143"/>
            <p:cNvSpPr/>
            <p:nvPr/>
          </p:nvSpPr>
          <p:spPr>
            <a:xfrm>
              <a:off x="8931400" y="0"/>
              <a:ext cx="219600" cy="51549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90" name="Google Shape;890;p143"/>
          <p:cNvPicPr preferRelativeResize="0"/>
          <p:nvPr/>
        </p:nvPicPr>
        <p:blipFill rotWithShape="1">
          <a:blip r:embed="rId3">
            <a:alphaModFix/>
          </a:blip>
          <a:srcRect l="10818" r="27003"/>
          <a:stretch/>
        </p:blipFill>
        <p:spPr>
          <a:xfrm>
            <a:off x="3705925" y="0"/>
            <a:ext cx="5369999" cy="4862426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143"/>
          <p:cNvSpPr/>
          <p:nvPr/>
        </p:nvSpPr>
        <p:spPr>
          <a:xfrm rot="-8099602">
            <a:off x="1548917" y="653115"/>
            <a:ext cx="3661399" cy="3715068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143"/>
          <p:cNvSpPr txBox="1"/>
          <p:nvPr/>
        </p:nvSpPr>
        <p:spPr>
          <a:xfrm>
            <a:off x="370425" y="1371025"/>
            <a:ext cx="49662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5200" b="1" dirty="0">
              <a:solidFill>
                <a:srgbClr val="58ADC5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Internal Demo Day: Data Circle</a:t>
            </a:r>
            <a:endParaRPr sz="5000" b="1" dirty="0">
              <a:solidFill>
                <a:srgbClr val="58ADC5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893" name="Google Shape;893;p143"/>
          <p:cNvGrpSpPr/>
          <p:nvPr/>
        </p:nvGrpSpPr>
        <p:grpSpPr>
          <a:xfrm>
            <a:off x="0" y="-7000"/>
            <a:ext cx="9197375" cy="5161900"/>
            <a:chOff x="0" y="-7000"/>
            <a:chExt cx="9197375" cy="5161900"/>
          </a:xfrm>
        </p:grpSpPr>
        <p:sp>
          <p:nvSpPr>
            <p:cNvPr id="894" name="Google Shape;894;p143"/>
            <p:cNvSpPr/>
            <p:nvPr/>
          </p:nvSpPr>
          <p:spPr>
            <a:xfrm>
              <a:off x="7000" y="-7000"/>
              <a:ext cx="9144000" cy="2559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43"/>
            <p:cNvSpPr/>
            <p:nvPr/>
          </p:nvSpPr>
          <p:spPr>
            <a:xfrm>
              <a:off x="0" y="0"/>
              <a:ext cx="219600" cy="51549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43"/>
            <p:cNvSpPr/>
            <p:nvPr/>
          </p:nvSpPr>
          <p:spPr>
            <a:xfrm>
              <a:off x="7000" y="4798125"/>
              <a:ext cx="9144000" cy="3567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43"/>
            <p:cNvSpPr/>
            <p:nvPr/>
          </p:nvSpPr>
          <p:spPr>
            <a:xfrm>
              <a:off x="6400750" y="2400375"/>
              <a:ext cx="2743242" cy="2743120"/>
            </a:xfrm>
            <a:custGeom>
              <a:avLst/>
              <a:gdLst/>
              <a:ahLst/>
              <a:cxnLst/>
              <a:rect l="l" t="t" r="r" b="b"/>
              <a:pathLst>
                <a:path w="73158" h="73145" extrusionOk="0">
                  <a:moveTo>
                    <a:pt x="73158" y="73107"/>
                  </a:moveTo>
                  <a:lnTo>
                    <a:pt x="73158" y="0"/>
                  </a:lnTo>
                  <a:lnTo>
                    <a:pt x="0" y="73145"/>
                  </a:lnTo>
                  <a:close/>
                </a:path>
              </a:pathLst>
            </a:custGeom>
            <a:solidFill>
              <a:srgbClr val="58ADC5"/>
            </a:solidFill>
            <a:ln>
              <a:noFill/>
            </a:ln>
          </p:spPr>
        </p:sp>
        <p:sp>
          <p:nvSpPr>
            <p:cNvPr id="898" name="Google Shape;898;p143"/>
            <p:cNvSpPr txBox="1"/>
            <p:nvPr/>
          </p:nvSpPr>
          <p:spPr>
            <a:xfrm rot="-2700000">
              <a:off x="6647467" y="3651017"/>
              <a:ext cx="2757716" cy="5545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865"/>
                <a:buNone/>
              </a:pPr>
              <a:r>
                <a:rPr lang="en" sz="1000" b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We use tech to connect human potential and opportunity with dignity &amp; humility   </a:t>
              </a:r>
              <a:endParaRPr sz="1000" b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899" name="Google Shape;899;p143"/>
            <p:cNvSpPr/>
            <p:nvPr/>
          </p:nvSpPr>
          <p:spPr>
            <a:xfrm>
              <a:off x="8414775" y="4244650"/>
              <a:ext cx="418647" cy="418572"/>
            </a:xfrm>
            <a:custGeom>
              <a:avLst/>
              <a:gdLst/>
              <a:ahLst/>
              <a:cxnLst/>
              <a:rect l="l" t="t" r="r" b="b"/>
              <a:pathLst>
                <a:path w="73158" h="73145" extrusionOk="0">
                  <a:moveTo>
                    <a:pt x="73158" y="73107"/>
                  </a:moveTo>
                  <a:lnTo>
                    <a:pt x="73158" y="0"/>
                  </a:lnTo>
                  <a:lnTo>
                    <a:pt x="0" y="73145"/>
                  </a:lnTo>
                  <a:close/>
                </a:path>
              </a:pathLst>
            </a:custGeom>
            <a:solidFill>
              <a:srgbClr val="EA5B25"/>
            </a:solidFill>
            <a:ln>
              <a:noFill/>
            </a:ln>
          </p:spPr>
        </p:sp>
        <p:sp>
          <p:nvSpPr>
            <p:cNvPr id="900" name="Google Shape;900;p143"/>
            <p:cNvSpPr/>
            <p:nvPr/>
          </p:nvSpPr>
          <p:spPr>
            <a:xfrm>
              <a:off x="8931400" y="0"/>
              <a:ext cx="219600" cy="51549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1" name="Google Shape;901;p143"/>
          <p:cNvSpPr txBox="1"/>
          <p:nvPr/>
        </p:nvSpPr>
        <p:spPr>
          <a:xfrm>
            <a:off x="542176" y="3073891"/>
            <a:ext cx="4154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dirty="0">
                <a:solidFill>
                  <a:srgbClr val="EA5B25"/>
                </a:solidFill>
                <a:latin typeface="Assistant"/>
                <a:ea typeface="Assistant"/>
                <a:cs typeface="Assistant"/>
                <a:sym typeface="Assistant"/>
              </a:rPr>
              <a:t>Fall </a:t>
            </a:r>
            <a:r>
              <a:rPr lang="en" sz="5000" b="1" dirty="0" smtClean="0">
                <a:solidFill>
                  <a:srgbClr val="EA5B25"/>
                </a:solidFill>
                <a:latin typeface="Assistant"/>
                <a:ea typeface="Assistant"/>
                <a:cs typeface="Assistant"/>
                <a:sym typeface="Assistant"/>
              </a:rPr>
              <a:t>2025</a:t>
            </a:r>
            <a:endParaRPr sz="5000" b="1" dirty="0">
              <a:solidFill>
                <a:srgbClr val="EA5B25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08C66"/>
                </a:solidFill>
                <a:latin typeface="Assistant"/>
                <a:ea typeface="Assistant"/>
                <a:cs typeface="Assistant"/>
                <a:sym typeface="Assistant"/>
              </a:rPr>
              <a:t>DCP </a:t>
            </a:r>
            <a:r>
              <a:rPr lang="en" sz="2800" dirty="0" smtClean="0">
                <a:solidFill>
                  <a:srgbClr val="F08C66"/>
                </a:solidFill>
                <a:latin typeface="Assistant"/>
                <a:ea typeface="Assistant"/>
                <a:cs typeface="Assistant"/>
                <a:sym typeface="Assistant"/>
              </a:rPr>
              <a:t>Hamburg</a:t>
            </a:r>
            <a:endParaRPr sz="2800" dirty="0">
              <a:solidFill>
                <a:srgbClr val="F08C66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902" name="Google Shape;902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695" y="312045"/>
            <a:ext cx="3080149" cy="57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4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GB" b="0" dirty="0"/>
              <a:t>By ALPHA GROUP</a:t>
            </a:r>
            <a:br>
              <a:rPr lang="en-GB" b="0" dirty="0"/>
            </a:br>
            <a:r>
              <a:rPr lang="en-GB" b="0" dirty="0"/>
              <a:t>Assimagbe Albert Raphael &amp; </a:t>
            </a:r>
            <a:r>
              <a:rPr lang="en-GB" b="0" dirty="0" err="1"/>
              <a:t>Saad</a:t>
            </a:r>
            <a:r>
              <a:rPr lang="en-GB" b="0" dirty="0"/>
              <a:t> Ali</a:t>
            </a:r>
            <a:br>
              <a:rPr lang="en-GB" b="0" dirty="0"/>
            </a:br>
            <a:r>
              <a:rPr lang="en-GB" b="0" dirty="0"/>
              <a:t>📊 Based on CDC H1N1 2009 Survey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54726" y="791090"/>
            <a:ext cx="74430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Flu Vaccination Predictor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54"/>
          <p:cNvSpPr txBox="1">
            <a:spLocks noGrp="1"/>
          </p:cNvSpPr>
          <p:nvPr>
            <p:ph type="sldNum" idx="12"/>
          </p:nvPr>
        </p:nvSpPr>
        <p:spPr>
          <a:xfrm>
            <a:off x="8259414" y="48693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 smtClean="0"/>
              <a:t>3</a:t>
            </a:fld>
            <a:r>
              <a:rPr lang="en" dirty="0" smtClean="0"/>
              <a:t>-13</a:t>
            </a:r>
            <a:endParaRPr dirty="0"/>
          </a:p>
        </p:txBody>
      </p:sp>
      <p:sp>
        <p:nvSpPr>
          <p:cNvPr id="982" name="Google Shape;982;p154"/>
          <p:cNvSpPr txBox="1"/>
          <p:nvPr/>
        </p:nvSpPr>
        <p:spPr>
          <a:xfrm>
            <a:off x="311700" y="342900"/>
            <a:ext cx="749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72850" rIns="72850" bIns="7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" sz="2900" b="1" i="0" u="none" strike="noStrike" cap="none" dirty="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Introduction</a:t>
            </a:r>
            <a:endParaRPr sz="2900" b="1" i="0" u="none" strike="noStrike" cap="none" dirty="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3" name="Google Shape;983;p154"/>
          <p:cNvSpPr txBox="1"/>
          <p:nvPr/>
        </p:nvSpPr>
        <p:spPr>
          <a:xfrm>
            <a:off x="311700" y="996225"/>
            <a:ext cx="804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SzPts val="1200"/>
            </a:pP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Seasonal and pandemic flu vaccines are vital public health </a:t>
            </a: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tools. Despite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availability, uptake varies due to beliefs, demographics, and </a:t>
            </a: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access.  This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study uses machine learning to understand and predict who gets vaccinated</a:t>
            </a:r>
            <a:endParaRPr sz="12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84" name="Google Shape;984;p154"/>
          <p:cNvSpPr txBox="1"/>
          <p:nvPr/>
        </p:nvSpPr>
        <p:spPr>
          <a:xfrm>
            <a:off x="311700" y="1568925"/>
            <a:ext cx="1614138" cy="453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72850" rIns="72850" bIns="7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 smtClean="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Objectives:</a:t>
            </a:r>
            <a:endParaRPr sz="1800" b="1" i="0" u="none" strike="noStrike" cap="none" dirty="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5" name="Google Shape;985;p154"/>
          <p:cNvSpPr txBox="1"/>
          <p:nvPr/>
        </p:nvSpPr>
        <p:spPr>
          <a:xfrm>
            <a:off x="311700" y="2141624"/>
            <a:ext cx="3752300" cy="215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>
              <a:lnSpc>
                <a:spcPct val="115000"/>
              </a:lnSpc>
              <a:buClr>
                <a:schemeClr val="dk1"/>
              </a:buClr>
              <a:buSzPts val="1200"/>
              <a:buFont typeface="Assistant"/>
              <a:buChar char="❏"/>
            </a:pP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Analyse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public attitudes and </a:t>
            </a: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behaviours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toward </a:t>
            </a: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vaccination</a:t>
            </a:r>
          </a:p>
          <a:p>
            <a:pPr marL="457200" lvl="0" indent="-304800">
              <a:lnSpc>
                <a:spcPct val="115000"/>
              </a:lnSpc>
              <a:buClr>
                <a:schemeClr val="dk1"/>
              </a:buClr>
              <a:buSzPts val="1200"/>
              <a:buFont typeface="Assistant"/>
              <a:buChar char="❏"/>
            </a:pP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Predict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uptake of</a:t>
            </a: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</a:p>
          <a:p>
            <a:pPr marL="152400" lvl="5">
              <a:lnSpc>
                <a:spcPct val="115000"/>
              </a:lnSpc>
              <a:buClr>
                <a:schemeClr val="dk1"/>
              </a:buClr>
              <a:buSzPts val="1200"/>
            </a:pP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	H1N1 vaccine</a:t>
            </a:r>
          </a:p>
          <a:p>
            <a:pPr marL="152400" lvl="5">
              <a:lnSpc>
                <a:spcPct val="115000"/>
              </a:lnSpc>
              <a:buClr>
                <a:schemeClr val="dk1"/>
              </a:buClr>
              <a:buSzPts val="1200"/>
            </a:pP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	Seasonal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flu </a:t>
            </a: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vaccine</a:t>
            </a:r>
          </a:p>
          <a:p>
            <a:pPr marL="457200" lvl="1" indent="-304800">
              <a:lnSpc>
                <a:spcPct val="115000"/>
              </a:lnSpc>
              <a:buClr>
                <a:schemeClr val="dk1"/>
              </a:buClr>
              <a:buSzPts val="1200"/>
              <a:buFont typeface="Assistant"/>
              <a:buChar char="❏"/>
            </a:pP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Interpret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model outputs to find key influencing </a:t>
            </a: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factors</a:t>
            </a:r>
          </a:p>
          <a:p>
            <a:pPr marL="457200" lvl="1" indent="-304800">
              <a:lnSpc>
                <a:spcPct val="115000"/>
              </a:lnSpc>
              <a:buClr>
                <a:schemeClr val="dk1"/>
              </a:buClr>
              <a:buSzPts val="1200"/>
              <a:buFont typeface="Assistant"/>
              <a:buChar char="❏"/>
            </a:pP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Offer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data-driven recommendations for public health strategy</a:t>
            </a:r>
            <a:endParaRPr sz="12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0" y="2110123"/>
            <a:ext cx="405311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latin typeface="Assistant" panose="020B0604020202020204" charset="-79"/>
                <a:cs typeface="Assistant" panose="020B0604020202020204" charset="-79"/>
              </a:rPr>
              <a:t>Random Forest Classifier:</a:t>
            </a:r>
          </a:p>
          <a:p>
            <a:r>
              <a:rPr lang="en-US" sz="1200" dirty="0" smtClean="0">
                <a:latin typeface="Assistant" panose="020B0604020202020204" charset="-79"/>
                <a:cs typeface="Assistant" panose="020B0604020202020204" charset="-79"/>
              </a:rPr>
              <a:t>	Captures </a:t>
            </a:r>
            <a:r>
              <a:rPr lang="en-US" sz="1200" dirty="0">
                <a:latin typeface="Assistant" panose="020B0604020202020204" charset="-79"/>
                <a:cs typeface="Assistant" panose="020B0604020202020204" charset="-79"/>
              </a:rPr>
              <a:t>nonlinear patterns</a:t>
            </a:r>
          </a:p>
          <a:p>
            <a:r>
              <a:rPr lang="en-US" sz="1200" dirty="0" smtClean="0">
                <a:latin typeface="Assistant" panose="020B0604020202020204" charset="-79"/>
                <a:cs typeface="Assistant" panose="020B0604020202020204" charset="-79"/>
              </a:rPr>
              <a:t>	Suitable </a:t>
            </a:r>
            <a:r>
              <a:rPr lang="en-US" sz="1200" dirty="0">
                <a:latin typeface="Assistant" panose="020B0604020202020204" charset="-79"/>
                <a:cs typeface="Assistant" panose="020B0604020202020204" charset="-79"/>
              </a:rPr>
              <a:t>for feature </a:t>
            </a:r>
            <a:r>
              <a:rPr lang="en-US" sz="1200" dirty="0" smtClean="0">
                <a:latin typeface="Assistant" panose="020B0604020202020204" charset="-79"/>
                <a:cs typeface="Assistant" panose="020B0604020202020204" charset="-79"/>
              </a:rPr>
              <a:t>importance</a:t>
            </a:r>
          </a:p>
          <a:p>
            <a:pPr marL="171450" lvl="2" indent="-171450">
              <a:buFont typeface="Wingdings" panose="05000000000000000000" pitchFamily="2" charset="2"/>
              <a:buChar char="q"/>
            </a:pPr>
            <a:r>
              <a:rPr lang="en-GB" sz="1200" dirty="0" smtClean="0">
                <a:latin typeface="Assistant" panose="020B0604020202020204" charset="-79"/>
                <a:cs typeface="Assistant" panose="020B0604020202020204" charset="-79"/>
              </a:rPr>
              <a:t>    Decision Tress:</a:t>
            </a:r>
          </a:p>
          <a:p>
            <a:pPr lvl="2"/>
            <a:r>
              <a:rPr lang="en-US" sz="1200" dirty="0">
                <a:latin typeface="Assistant" panose="020B0604020202020204" charset="-79"/>
                <a:cs typeface="Assistant" panose="020B0604020202020204" charset="-79"/>
              </a:rPr>
              <a:t>	Suitable for feature </a:t>
            </a:r>
            <a:r>
              <a:rPr lang="en-US" sz="1200" dirty="0" smtClean="0">
                <a:latin typeface="Assistant" panose="020B0604020202020204" charset="-79"/>
                <a:cs typeface="Assistant" panose="020B0604020202020204" charset="-79"/>
              </a:rPr>
              <a:t>importance</a:t>
            </a:r>
            <a:endParaRPr lang="en-US" sz="1200" dirty="0">
              <a:latin typeface="Assistant" panose="020B0604020202020204" charset="-79"/>
              <a:cs typeface="Assistant" panose="020B0604020202020204" charset="-79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latin typeface="Assistant" panose="020B0604020202020204" charset="-79"/>
                <a:cs typeface="Assistant" panose="020B0604020202020204" charset="-79"/>
              </a:rPr>
              <a:t>Logistic Regression:</a:t>
            </a:r>
          </a:p>
          <a:p>
            <a:r>
              <a:rPr lang="en-US" sz="1200" dirty="0" smtClean="0">
                <a:latin typeface="Assistant" panose="020B0604020202020204" charset="-79"/>
                <a:cs typeface="Assistant" panose="020B0604020202020204" charset="-79"/>
              </a:rPr>
              <a:t>	Interpretable </a:t>
            </a:r>
            <a:r>
              <a:rPr lang="en-US" sz="1200" dirty="0">
                <a:latin typeface="Assistant" panose="020B0604020202020204" charset="-79"/>
                <a:cs typeface="Assistant" panose="020B0604020202020204" charset="-79"/>
              </a:rPr>
              <a:t>linear model</a:t>
            </a:r>
          </a:p>
          <a:p>
            <a:r>
              <a:rPr lang="en-US" sz="1200" dirty="0" smtClean="0">
                <a:latin typeface="Assistant" panose="020B0604020202020204" charset="-79"/>
                <a:cs typeface="Assistant" panose="020B0604020202020204" charset="-79"/>
              </a:rPr>
              <a:t>	Good </a:t>
            </a:r>
            <a:r>
              <a:rPr lang="en-US" sz="1200" dirty="0">
                <a:latin typeface="Assistant" panose="020B0604020202020204" charset="-79"/>
                <a:cs typeface="Assistant" panose="020B0604020202020204" charset="-79"/>
              </a:rPr>
              <a:t>for policy recommendations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latin typeface="Assistant" panose="020B0604020202020204" charset="-79"/>
                <a:cs typeface="Assistant" panose="020B0604020202020204" charset="-79"/>
              </a:rPr>
              <a:t>Separate models trained for H1N1 and Seasonal vaccine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680044"/>
            <a:ext cx="24032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58ADC5"/>
                </a:solidFill>
              </a:rPr>
              <a:t>Modeling Approach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7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solidFill>
                  <a:srgbClr val="58ADC5"/>
                </a:solidFill>
                <a:latin typeface="Roboto"/>
                <a:ea typeface="Roboto"/>
                <a:cs typeface="Roboto"/>
                <a:sym typeface="Roboto"/>
              </a:rPr>
              <a:t>Dataset Overview</a:t>
            </a:r>
            <a:endParaRPr b="1" dirty="0">
              <a:solidFill>
                <a:srgbClr val="58ADC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0" name="Google Shape;1200;p175"/>
          <p:cNvSpPr txBox="1">
            <a:spLocks noGrp="1"/>
          </p:cNvSpPr>
          <p:nvPr>
            <p:ph type="body" idx="1"/>
          </p:nvPr>
        </p:nvSpPr>
        <p:spPr>
          <a:xfrm>
            <a:off x="390581" y="994275"/>
            <a:ext cx="5183700" cy="3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171450">
              <a:lnSpc>
                <a:spcPct val="115000"/>
              </a:lnSpc>
              <a:buSzPts val="600"/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58ADC5"/>
                </a:solidFill>
              </a:rPr>
              <a:t>Source: </a:t>
            </a:r>
            <a:r>
              <a:rPr lang="en-US" sz="1200" dirty="0">
                <a:solidFill>
                  <a:schemeClr val="tx1"/>
                </a:solidFill>
              </a:rPr>
              <a:t>CDC 2009 H1N1 Flu </a:t>
            </a:r>
            <a:r>
              <a:rPr lang="en-US" sz="1200" dirty="0" smtClean="0">
                <a:solidFill>
                  <a:schemeClr val="tx1"/>
                </a:solidFill>
              </a:rPr>
              <a:t>Survey</a:t>
            </a:r>
          </a:p>
          <a:p>
            <a:pPr marL="514350" indent="-171450">
              <a:lnSpc>
                <a:spcPct val="115000"/>
              </a:lnSpc>
              <a:buSzPts val="600"/>
              <a:buFont typeface="Wingdings" panose="05000000000000000000" pitchFamily="2" charset="2"/>
              <a:buChar char="q"/>
            </a:pPr>
            <a:r>
              <a:rPr lang="en-US" sz="1200" b="1" dirty="0" smtClean="0">
                <a:solidFill>
                  <a:srgbClr val="58ADC5"/>
                </a:solidFill>
              </a:rPr>
              <a:t>Size: </a:t>
            </a:r>
            <a:r>
              <a:rPr lang="en-US" sz="1200" dirty="0" smtClean="0">
                <a:solidFill>
                  <a:schemeClr val="tx1"/>
                </a:solidFill>
              </a:rPr>
              <a:t>26,707 </a:t>
            </a:r>
            <a:r>
              <a:rPr lang="en-US" sz="1200" dirty="0">
                <a:solidFill>
                  <a:schemeClr val="tx1"/>
                </a:solidFill>
              </a:rPr>
              <a:t>respondents across </a:t>
            </a:r>
            <a:r>
              <a:rPr lang="en-US" sz="1200" dirty="0" smtClean="0">
                <a:solidFill>
                  <a:schemeClr val="tx1"/>
                </a:solidFill>
              </a:rPr>
              <a:t>U.S, </a:t>
            </a:r>
            <a:r>
              <a:rPr lang="en-US" sz="1200" dirty="0">
                <a:solidFill>
                  <a:schemeClr val="tx1"/>
                </a:solidFill>
              </a:rPr>
              <a:t>36 </a:t>
            </a:r>
            <a:r>
              <a:rPr lang="en-US" sz="1200" dirty="0" smtClean="0">
                <a:solidFill>
                  <a:schemeClr val="tx1"/>
                </a:solidFill>
              </a:rPr>
              <a:t>features</a:t>
            </a:r>
          </a:p>
          <a:p>
            <a:pPr marL="514350" lvl="0" indent="-171450">
              <a:lnSpc>
                <a:spcPct val="115000"/>
              </a:lnSpc>
              <a:buSzPts val="600"/>
              <a:buFont typeface="Wingdings" panose="05000000000000000000" pitchFamily="2" charset="2"/>
              <a:buChar char="q"/>
            </a:pPr>
            <a:r>
              <a:rPr lang="en-US" sz="1200" b="1" dirty="0" smtClean="0">
                <a:solidFill>
                  <a:srgbClr val="58ADC5"/>
                </a:solidFill>
              </a:rPr>
              <a:t>Features:</a:t>
            </a:r>
          </a:p>
          <a:p>
            <a:pPr marL="342900" lvl="0" indent="0">
              <a:lnSpc>
                <a:spcPct val="115000"/>
              </a:lnSpc>
              <a:buSzPts val="600"/>
              <a:buNone/>
            </a:pPr>
            <a:r>
              <a:rPr lang="en-US" sz="1200" b="1" dirty="0">
                <a:solidFill>
                  <a:srgbClr val="58ADC5"/>
                </a:solidFill>
              </a:rPr>
              <a:t>	</a:t>
            </a:r>
            <a:r>
              <a:rPr lang="en-US" sz="1200" dirty="0" smtClean="0">
                <a:solidFill>
                  <a:schemeClr val="tx1"/>
                </a:solidFill>
              </a:rPr>
              <a:t>Demographics </a:t>
            </a:r>
            <a:r>
              <a:rPr lang="en-US" sz="1200" dirty="0">
                <a:solidFill>
                  <a:schemeClr val="tx1"/>
                </a:solidFill>
              </a:rPr>
              <a:t>(age, race, education</a:t>
            </a:r>
            <a:r>
              <a:rPr lang="en-US" sz="1200" dirty="0" smtClean="0">
                <a:solidFill>
                  <a:schemeClr val="tx1"/>
                </a:solidFill>
              </a:rPr>
              <a:t>)</a:t>
            </a:r>
          </a:p>
          <a:p>
            <a:pPr marL="342900" lvl="0" indent="0">
              <a:lnSpc>
                <a:spcPct val="115000"/>
              </a:lnSpc>
              <a:buSzPts val="600"/>
              <a:buNone/>
            </a:pPr>
            <a:r>
              <a:rPr lang="en-US" sz="1200" dirty="0" smtClean="0">
                <a:solidFill>
                  <a:schemeClr val="tx1"/>
                </a:solidFill>
              </a:rPr>
              <a:t>	Health </a:t>
            </a:r>
            <a:r>
              <a:rPr lang="en-US" sz="1200" dirty="0">
                <a:solidFill>
                  <a:schemeClr val="tx1"/>
                </a:solidFill>
              </a:rPr>
              <a:t>behavior (doctor visits, chronic conditions</a:t>
            </a:r>
            <a:r>
              <a:rPr lang="en-US" sz="1200" dirty="0" smtClean="0">
                <a:solidFill>
                  <a:schemeClr val="tx1"/>
                </a:solidFill>
              </a:rPr>
              <a:t>)</a:t>
            </a:r>
          </a:p>
          <a:p>
            <a:pPr marL="342900" lvl="0" indent="0">
              <a:lnSpc>
                <a:spcPct val="115000"/>
              </a:lnSpc>
              <a:buSzPts val="600"/>
              <a:buNone/>
            </a:pPr>
            <a:r>
              <a:rPr lang="en-US" sz="1200" dirty="0" smtClean="0">
                <a:solidFill>
                  <a:schemeClr val="tx1"/>
                </a:solidFill>
              </a:rPr>
              <a:t>	Opinion </a:t>
            </a:r>
            <a:r>
              <a:rPr lang="en-US" sz="1200" dirty="0">
                <a:solidFill>
                  <a:schemeClr val="tx1"/>
                </a:solidFill>
              </a:rPr>
              <a:t>(concern about flu, confidence in vaccines</a:t>
            </a:r>
            <a:r>
              <a:rPr lang="en-US" sz="1200" dirty="0" smtClean="0">
                <a:solidFill>
                  <a:schemeClr val="tx1"/>
                </a:solidFill>
              </a:rPr>
              <a:t>)</a:t>
            </a:r>
          </a:p>
          <a:p>
            <a:pPr marL="514350" lvl="0" indent="-171450">
              <a:lnSpc>
                <a:spcPct val="115000"/>
              </a:lnSpc>
              <a:buSzPts val="600"/>
              <a:buFont typeface="Wingdings" panose="05000000000000000000" pitchFamily="2" charset="2"/>
              <a:buChar char="q"/>
            </a:pPr>
            <a:r>
              <a:rPr lang="en-US" sz="1200" b="1" dirty="0" smtClean="0">
                <a:solidFill>
                  <a:srgbClr val="58ADC5"/>
                </a:solidFill>
              </a:rPr>
              <a:t>Two </a:t>
            </a:r>
            <a:r>
              <a:rPr lang="en-US" sz="1200" b="1" dirty="0">
                <a:solidFill>
                  <a:srgbClr val="58ADC5"/>
                </a:solidFill>
              </a:rPr>
              <a:t>binary target variables</a:t>
            </a:r>
            <a:r>
              <a:rPr lang="en-US" sz="1200" b="1" dirty="0" smtClean="0">
                <a:solidFill>
                  <a:srgbClr val="58ADC5"/>
                </a:solidFill>
              </a:rPr>
              <a:t>:</a:t>
            </a:r>
          </a:p>
          <a:p>
            <a:pPr marL="342900" lvl="0" indent="0">
              <a:lnSpc>
                <a:spcPct val="115000"/>
              </a:lnSpc>
              <a:buSzPts val="600"/>
              <a:buNone/>
            </a:pPr>
            <a:r>
              <a:rPr lang="en-US" sz="1200" dirty="0" smtClean="0">
                <a:solidFill>
                  <a:schemeClr val="tx1"/>
                </a:solidFill>
              </a:rPr>
              <a:t>	H1N1 Vaccine </a:t>
            </a:r>
            <a:r>
              <a:rPr lang="en-US" sz="1200" dirty="0">
                <a:solidFill>
                  <a:schemeClr val="tx1"/>
                </a:solidFill>
              </a:rPr>
              <a:t>(</a:t>
            </a:r>
            <a:r>
              <a:rPr lang="en-US" sz="1200" dirty="0" smtClean="0">
                <a:solidFill>
                  <a:schemeClr val="tx1"/>
                </a:solidFill>
              </a:rPr>
              <a:t>Yes/No)</a:t>
            </a:r>
          </a:p>
          <a:p>
            <a:pPr marL="342900" lvl="0" indent="0">
              <a:lnSpc>
                <a:spcPct val="115000"/>
              </a:lnSpc>
              <a:buSzPts val="600"/>
              <a:buNone/>
            </a:pPr>
            <a:r>
              <a:rPr lang="en-US" sz="1200" dirty="0">
                <a:solidFill>
                  <a:schemeClr val="tx1"/>
                </a:solidFill>
              </a:rPr>
              <a:t>	</a:t>
            </a:r>
            <a:r>
              <a:rPr lang="en-US" sz="1200" dirty="0" smtClean="0">
                <a:solidFill>
                  <a:schemeClr val="tx1"/>
                </a:solidFill>
              </a:rPr>
              <a:t>Seasonal Vaccine </a:t>
            </a:r>
            <a:r>
              <a:rPr lang="en-US" sz="1200" dirty="0">
                <a:solidFill>
                  <a:schemeClr val="tx1"/>
                </a:solidFill>
              </a:rPr>
              <a:t>(Yes/No)</a:t>
            </a:r>
            <a:endParaRPr sz="1200" dirty="0">
              <a:solidFill>
                <a:schemeClr val="tx1"/>
              </a:solidFill>
            </a:endParaRPr>
          </a:p>
        </p:txBody>
      </p:sp>
      <p:pic>
        <p:nvPicPr>
          <p:cNvPr id="1201" name="Google Shape;1201;p175"/>
          <p:cNvPicPr preferRelativeResize="0"/>
          <p:nvPr/>
        </p:nvPicPr>
        <p:blipFill rotWithShape="1">
          <a:blip r:embed="rId3">
            <a:alphaModFix/>
          </a:blip>
          <a:srcRect b="8784"/>
          <a:stretch/>
        </p:blipFill>
        <p:spPr>
          <a:xfrm>
            <a:off x="6398194" y="1640860"/>
            <a:ext cx="1777949" cy="1550906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7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mtClean="0"/>
              <a:t>4</a:t>
            </a:fld>
            <a:r>
              <a:rPr lang="en" dirty="0" smtClean="0"/>
              <a:t>-13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55"/>
          <p:cNvSpPr txBox="1">
            <a:spLocks noGrp="1"/>
          </p:cNvSpPr>
          <p:nvPr>
            <p:ph type="title"/>
          </p:nvPr>
        </p:nvSpPr>
        <p:spPr>
          <a:xfrm>
            <a:off x="377775" y="155675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dirty="0">
                <a:solidFill>
                  <a:srgbClr val="58ADC5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Exploratory Data </a:t>
            </a:r>
            <a:r>
              <a:rPr lang="en" dirty="0" smtClean="0">
                <a:solidFill>
                  <a:srgbClr val="58ADC5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Analysis (EDA)</a:t>
            </a:r>
            <a:endParaRPr dirty="0">
              <a:solidFill>
                <a:srgbClr val="58ADC5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01" name="Google Shape;1001;p155"/>
          <p:cNvSpPr txBox="1">
            <a:spLocks noGrp="1"/>
          </p:cNvSpPr>
          <p:nvPr>
            <p:ph type="sldNum" idx="12"/>
          </p:nvPr>
        </p:nvSpPr>
        <p:spPr>
          <a:xfrm>
            <a:off x="8159175" y="485361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 smtClean="0"/>
              <a:t>5</a:t>
            </a:fld>
            <a:r>
              <a:rPr lang="en" dirty="0" smtClean="0"/>
              <a:t>-13</a:t>
            </a:r>
            <a:endParaRPr dirty="0"/>
          </a:p>
        </p:txBody>
      </p:sp>
      <p:sp>
        <p:nvSpPr>
          <p:cNvPr id="1005" name="Google Shape;1005;p155"/>
          <p:cNvSpPr txBox="1"/>
          <p:nvPr/>
        </p:nvSpPr>
        <p:spPr>
          <a:xfrm>
            <a:off x="871499" y="933756"/>
            <a:ext cx="3189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GB" sz="1200" dirty="0">
                <a:solidFill>
                  <a:srgbClr val="58ADC5"/>
                </a:solidFill>
              </a:rPr>
              <a:t>Concern about H1N1 Virus = more handwashing</a:t>
            </a:r>
          </a:p>
        </p:txBody>
      </p:sp>
      <p:sp>
        <p:nvSpPr>
          <p:cNvPr id="1007" name="Google Shape;1007;p155"/>
          <p:cNvSpPr txBox="1"/>
          <p:nvPr/>
        </p:nvSpPr>
        <p:spPr>
          <a:xfrm>
            <a:off x="5210748" y="950538"/>
            <a:ext cx="314793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1200" dirty="0" smtClean="0">
                <a:solidFill>
                  <a:srgbClr val="58ADC5"/>
                </a:solidFill>
              </a:rPr>
              <a:t>Doctor </a:t>
            </a:r>
            <a:r>
              <a:rPr lang="en-US" sz="1200" dirty="0">
                <a:solidFill>
                  <a:srgbClr val="58ADC5"/>
                </a:solidFill>
              </a:rPr>
              <a:t>Recommendations Influence Vaccination</a:t>
            </a:r>
          </a:p>
        </p:txBody>
      </p:sp>
      <p:sp>
        <p:nvSpPr>
          <p:cNvPr id="1008" name="Google Shape;1008;p155"/>
          <p:cNvSpPr txBox="1"/>
          <p:nvPr/>
        </p:nvSpPr>
        <p:spPr>
          <a:xfrm>
            <a:off x="5580050" y="3081400"/>
            <a:ext cx="610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922.091</a:t>
            </a:r>
            <a:endParaRPr sz="700" b="0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09" name="Google Shape;1009;p155"/>
          <p:cNvSpPr txBox="1"/>
          <p:nvPr/>
        </p:nvSpPr>
        <p:spPr>
          <a:xfrm>
            <a:off x="6883275" y="3081400"/>
            <a:ext cx="610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804.469</a:t>
            </a:r>
            <a:endParaRPr sz="700" b="0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032" y="1669819"/>
            <a:ext cx="3940539" cy="26491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25" y="1669819"/>
            <a:ext cx="3733243" cy="2649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55"/>
          <p:cNvSpPr txBox="1">
            <a:spLocks noGrp="1"/>
          </p:cNvSpPr>
          <p:nvPr>
            <p:ph type="title"/>
          </p:nvPr>
        </p:nvSpPr>
        <p:spPr>
          <a:xfrm>
            <a:off x="377775" y="155675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dirty="0">
                <a:solidFill>
                  <a:srgbClr val="58ADC5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Exploratory Data </a:t>
            </a:r>
            <a:r>
              <a:rPr lang="en" dirty="0" smtClean="0">
                <a:solidFill>
                  <a:srgbClr val="58ADC5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Analysis (EDA)</a:t>
            </a:r>
            <a:endParaRPr dirty="0">
              <a:solidFill>
                <a:srgbClr val="58ADC5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01" name="Google Shape;1001;p155"/>
          <p:cNvSpPr txBox="1">
            <a:spLocks noGrp="1"/>
          </p:cNvSpPr>
          <p:nvPr>
            <p:ph type="sldNum" idx="12"/>
          </p:nvPr>
        </p:nvSpPr>
        <p:spPr>
          <a:xfrm>
            <a:off x="8100913" y="482985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 smtClean="0"/>
              <a:t>6</a:t>
            </a:fld>
            <a:r>
              <a:rPr lang="en" dirty="0" smtClean="0"/>
              <a:t>-13</a:t>
            </a:r>
            <a:endParaRPr dirty="0"/>
          </a:p>
        </p:txBody>
      </p:sp>
      <p:sp>
        <p:nvSpPr>
          <p:cNvPr id="1005" name="Google Shape;1005;p155"/>
          <p:cNvSpPr txBox="1"/>
          <p:nvPr/>
        </p:nvSpPr>
        <p:spPr>
          <a:xfrm>
            <a:off x="835213" y="890213"/>
            <a:ext cx="3189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GB" sz="1200" dirty="0">
                <a:solidFill>
                  <a:srgbClr val="58ADC5"/>
                </a:solidFill>
              </a:rPr>
              <a:t>Older adults (65+) more likely to get seasonal flu shots</a:t>
            </a:r>
          </a:p>
        </p:txBody>
      </p:sp>
      <p:sp>
        <p:nvSpPr>
          <p:cNvPr id="1007" name="Google Shape;1007;p155"/>
          <p:cNvSpPr txBox="1"/>
          <p:nvPr/>
        </p:nvSpPr>
        <p:spPr>
          <a:xfrm>
            <a:off x="5318679" y="815313"/>
            <a:ext cx="314793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GB" sz="1200" dirty="0">
                <a:solidFill>
                  <a:srgbClr val="58ADC5"/>
                </a:solidFill>
              </a:rPr>
              <a:t>4.9% Persons takes Preventive Antiviral Medication while, 28.3% Persons has chronic medical conditions</a:t>
            </a:r>
          </a:p>
        </p:txBody>
      </p:sp>
      <p:sp>
        <p:nvSpPr>
          <p:cNvPr id="1008" name="Google Shape;1008;p155"/>
          <p:cNvSpPr txBox="1"/>
          <p:nvPr/>
        </p:nvSpPr>
        <p:spPr>
          <a:xfrm>
            <a:off x="5580050" y="3081400"/>
            <a:ext cx="610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922.091</a:t>
            </a:r>
            <a:endParaRPr sz="700" b="0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09" name="Google Shape;1009;p155"/>
          <p:cNvSpPr txBox="1"/>
          <p:nvPr/>
        </p:nvSpPr>
        <p:spPr>
          <a:xfrm>
            <a:off x="6883275" y="3081400"/>
            <a:ext cx="610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804.469</a:t>
            </a:r>
            <a:endParaRPr sz="700" b="0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93" y="1711837"/>
            <a:ext cx="4331249" cy="25626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286" y="1786676"/>
            <a:ext cx="4434186" cy="248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176"/>
          <p:cNvSpPr txBox="1">
            <a:spLocks noGrp="1"/>
          </p:cNvSpPr>
          <p:nvPr>
            <p:ph type="sldNum" idx="12"/>
          </p:nvPr>
        </p:nvSpPr>
        <p:spPr>
          <a:xfrm>
            <a:off x="7949944" y="47499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mtClean="0"/>
              <a:t>7</a:t>
            </a:fld>
            <a:r>
              <a:rPr lang="en" dirty="0" smtClean="0"/>
              <a:t>-13</a:t>
            </a:r>
            <a:endParaRPr dirty="0"/>
          </a:p>
        </p:txBody>
      </p:sp>
      <p:sp>
        <p:nvSpPr>
          <p:cNvPr id="1208" name="Google Shape;1208;p176"/>
          <p:cNvSpPr txBox="1">
            <a:spLocks noGrp="1"/>
          </p:cNvSpPr>
          <p:nvPr>
            <p:ph type="title" idx="4294967295"/>
          </p:nvPr>
        </p:nvSpPr>
        <p:spPr>
          <a:xfrm>
            <a:off x="330660" y="98006"/>
            <a:ext cx="8466241" cy="727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en-US" b="1" dirty="0">
                <a:solidFill>
                  <a:srgbClr val="58ADC5"/>
                </a:solidFill>
                <a:latin typeface="Roboto"/>
                <a:ea typeface="Roboto"/>
                <a:cs typeface="Roboto"/>
                <a:sym typeface="Roboto"/>
              </a:rPr>
              <a:t>Target Variable Distribution</a:t>
            </a:r>
            <a:endParaRPr b="1" dirty="0">
              <a:solidFill>
                <a:srgbClr val="58ADC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p176"/>
          <p:cNvSpPr txBox="1">
            <a:spLocks noGrp="1"/>
          </p:cNvSpPr>
          <p:nvPr>
            <p:ph type="body" idx="4294967295"/>
          </p:nvPr>
        </p:nvSpPr>
        <p:spPr>
          <a:xfrm>
            <a:off x="141910" y="825049"/>
            <a:ext cx="4362000" cy="611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85800" lvl="0" indent="0">
              <a:lnSpc>
                <a:spcPct val="200000"/>
              </a:lnSpc>
              <a:buNone/>
            </a:pPr>
            <a:r>
              <a:rPr lang="en-GB" sz="1400" b="1" dirty="0">
                <a:solidFill>
                  <a:srgbClr val="58ADC5"/>
                </a:solidFill>
              </a:rPr>
              <a:t>H1N1 Vaccine</a:t>
            </a:r>
            <a:r>
              <a:rPr lang="en-GB" sz="1400" b="1" dirty="0" smtClean="0">
                <a:solidFill>
                  <a:srgbClr val="58ADC5"/>
                </a:solidFill>
              </a:rPr>
              <a:t>: Majority </a:t>
            </a:r>
            <a:r>
              <a:rPr lang="en-GB" sz="1400" b="1" dirty="0">
                <a:solidFill>
                  <a:srgbClr val="58ADC5"/>
                </a:solidFill>
              </a:rPr>
              <a:t>did not take </a:t>
            </a:r>
            <a:r>
              <a:rPr lang="en-GB" sz="1400" b="1" dirty="0" smtClean="0">
                <a:solidFill>
                  <a:srgbClr val="58ADC5"/>
                </a:solidFill>
              </a:rPr>
              <a:t>it</a:t>
            </a:r>
            <a:endParaRPr sz="1400" dirty="0">
              <a:solidFill>
                <a:srgbClr val="58ADC5"/>
              </a:solidFill>
            </a:endParaRPr>
          </a:p>
        </p:txBody>
      </p:sp>
      <p:sp>
        <p:nvSpPr>
          <p:cNvPr id="1211" name="Google Shape;1211;p176"/>
          <p:cNvSpPr txBox="1">
            <a:spLocks noGrp="1"/>
          </p:cNvSpPr>
          <p:nvPr>
            <p:ph type="body" idx="4294967295"/>
          </p:nvPr>
        </p:nvSpPr>
        <p:spPr>
          <a:xfrm>
            <a:off x="4913140" y="828684"/>
            <a:ext cx="4049431" cy="50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85800" lvl="0" indent="0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58ADC5"/>
                </a:solidFill>
              </a:rPr>
              <a:t>Seasonal Vaccine</a:t>
            </a:r>
            <a:r>
              <a:rPr lang="en-US" sz="1400" b="1" dirty="0" smtClean="0">
                <a:solidFill>
                  <a:srgbClr val="58ADC5"/>
                </a:solidFill>
              </a:rPr>
              <a:t>: Higher uptake</a:t>
            </a:r>
            <a:endParaRPr sz="1400" dirty="0">
              <a:solidFill>
                <a:srgbClr val="58ADC5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61" y="1436914"/>
            <a:ext cx="3390900" cy="3238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370" y="1335314"/>
            <a:ext cx="3390900" cy="3238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54"/>
          <p:cNvSpPr txBox="1">
            <a:spLocks noGrp="1"/>
          </p:cNvSpPr>
          <p:nvPr>
            <p:ph type="sldNum" idx="12"/>
          </p:nvPr>
        </p:nvSpPr>
        <p:spPr>
          <a:xfrm>
            <a:off x="8168071" y="483051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 smtClean="0"/>
              <a:t>8</a:t>
            </a:fld>
            <a:r>
              <a:rPr lang="en" dirty="0" smtClean="0"/>
              <a:t>-13</a:t>
            </a:r>
            <a:endParaRPr dirty="0"/>
          </a:p>
        </p:txBody>
      </p:sp>
      <p:sp>
        <p:nvSpPr>
          <p:cNvPr id="982" name="Google Shape;982;p154"/>
          <p:cNvSpPr txBox="1"/>
          <p:nvPr/>
        </p:nvSpPr>
        <p:spPr>
          <a:xfrm>
            <a:off x="378880" y="182413"/>
            <a:ext cx="749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72850" rIns="72850" bIns="72850" anchor="ctr" anchorCtr="0">
            <a:noAutofit/>
          </a:bodyPr>
          <a:lstStyle/>
          <a:p>
            <a:pPr lvl="0" algn="ctr">
              <a:buSzPts val="2900"/>
            </a:pPr>
            <a:r>
              <a:rPr lang="en-US" sz="2800" b="1" dirty="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H1N1 </a:t>
            </a:r>
            <a:r>
              <a:rPr lang="en-US" sz="2800" b="1" dirty="0" smtClean="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Vaccine– </a:t>
            </a:r>
            <a:r>
              <a:rPr lang="en-US" sz="2800" b="1" dirty="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Random Forest Performance</a:t>
            </a:r>
            <a:endParaRPr sz="2800" b="1" i="0" u="none" strike="noStrike" cap="none" dirty="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3" name="Google Shape;983;p154"/>
          <p:cNvSpPr txBox="1"/>
          <p:nvPr/>
        </p:nvSpPr>
        <p:spPr>
          <a:xfrm>
            <a:off x="4596094" y="3732368"/>
            <a:ext cx="3870556" cy="98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SzPts val="1200"/>
            </a:pPr>
            <a:r>
              <a:rPr lang="en-GB" sz="12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Interpretation: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While overall accuracy and AUC are good, the low F1 score suggests the model may be missing many vaccinated individuals (low recall or precision).</a:t>
            </a:r>
          </a:p>
        </p:txBody>
      </p:sp>
      <p:sp>
        <p:nvSpPr>
          <p:cNvPr id="7" name="Google Shape;983;p154"/>
          <p:cNvSpPr txBox="1"/>
          <p:nvPr/>
        </p:nvSpPr>
        <p:spPr>
          <a:xfrm>
            <a:off x="311700" y="3487090"/>
            <a:ext cx="3870556" cy="148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SzPts val="1200"/>
            </a:pPr>
            <a:r>
              <a:rPr lang="en-GB" sz="12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Accuracy (0.84):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The model correctly predicts 84% of cases</a:t>
            </a: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</a:p>
          <a:p>
            <a:pPr lvl="0" algn="just">
              <a:buSzPts val="1200"/>
            </a:pPr>
            <a:r>
              <a:rPr lang="en-GB" sz="1200" b="1" dirty="0" smtClean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ROC </a:t>
            </a:r>
            <a:r>
              <a:rPr lang="en-GB" sz="12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AUC (0.83):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Good ability to distinguish between vaccinated and unvaccinated individuals</a:t>
            </a: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</a:p>
          <a:p>
            <a:pPr lvl="0" algn="just">
              <a:buSzPts val="1200"/>
            </a:pPr>
            <a:r>
              <a:rPr lang="en-GB" sz="1200" b="1" dirty="0" smtClean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F1 </a:t>
            </a:r>
            <a:r>
              <a:rPr lang="en-GB" sz="12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Score (0.52):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Moderate balance between precision and recall — suggests the model struggles more with imbalanced classes or identifying positives accurately</a:t>
            </a: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45" y="835588"/>
            <a:ext cx="2985135" cy="26515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944" y="835588"/>
            <a:ext cx="2591586" cy="264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52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54"/>
          <p:cNvSpPr txBox="1">
            <a:spLocks noGrp="1"/>
          </p:cNvSpPr>
          <p:nvPr>
            <p:ph type="sldNum" idx="12"/>
          </p:nvPr>
        </p:nvSpPr>
        <p:spPr>
          <a:xfrm>
            <a:off x="8238983" y="4761845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 smtClean="0"/>
              <a:t>9</a:t>
            </a:fld>
            <a:r>
              <a:rPr lang="en" dirty="0" smtClean="0"/>
              <a:t>-13</a:t>
            </a:r>
            <a:endParaRPr dirty="0"/>
          </a:p>
        </p:txBody>
      </p:sp>
      <p:sp>
        <p:nvSpPr>
          <p:cNvPr id="982" name="Google Shape;982;p154"/>
          <p:cNvSpPr txBox="1"/>
          <p:nvPr/>
        </p:nvSpPr>
        <p:spPr>
          <a:xfrm>
            <a:off x="311700" y="116690"/>
            <a:ext cx="749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72850" rIns="72850" bIns="72850" anchor="ctr" anchorCtr="0">
            <a:noAutofit/>
          </a:bodyPr>
          <a:lstStyle/>
          <a:p>
            <a:pPr lvl="0" algn="ctr">
              <a:buSzPts val="2900"/>
            </a:pPr>
            <a:r>
              <a:rPr lang="en-GB" sz="2500" b="1" dirty="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Seasonal </a:t>
            </a:r>
            <a:r>
              <a:rPr lang="en-GB" sz="2500" b="1" dirty="0" smtClean="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Flu Vaccine </a:t>
            </a:r>
            <a:r>
              <a:rPr lang="en-GB" sz="2500" b="1" dirty="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– Random Forest Performance</a:t>
            </a:r>
            <a:endParaRPr sz="2500" b="1" i="0" u="none" strike="noStrike" cap="none" dirty="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3" name="Google Shape;983;p154"/>
          <p:cNvSpPr txBox="1"/>
          <p:nvPr/>
        </p:nvSpPr>
        <p:spPr>
          <a:xfrm>
            <a:off x="4778944" y="3697554"/>
            <a:ext cx="3870556" cy="98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SzPts val="1200"/>
            </a:pPr>
            <a:r>
              <a:rPr lang="en-GB" sz="12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Interpretation: </a:t>
            </a: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The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seasonal flu model performs better in terms of F1 score, meaning it's more effective at identifying vaccinated individuals reliably, despite a slightly lower accuracy.</a:t>
            </a:r>
          </a:p>
        </p:txBody>
      </p:sp>
      <p:sp>
        <p:nvSpPr>
          <p:cNvPr id="7" name="Google Shape;983;p154"/>
          <p:cNvSpPr txBox="1"/>
          <p:nvPr/>
        </p:nvSpPr>
        <p:spPr>
          <a:xfrm>
            <a:off x="311700" y="3613661"/>
            <a:ext cx="3870556" cy="1200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SzPts val="1200"/>
            </a:pPr>
            <a:r>
              <a:rPr lang="en-GB" sz="1200" b="1" dirty="0" smtClean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Accuracy </a:t>
            </a:r>
            <a:r>
              <a:rPr lang="en-GB" sz="12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(0.78):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Slightly lower overall correctness than H1N1</a:t>
            </a: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</a:p>
          <a:p>
            <a:pPr lvl="0" algn="just">
              <a:buSzPts val="1200"/>
            </a:pPr>
            <a:r>
              <a:rPr lang="en-GB" sz="1200" b="1" dirty="0" smtClean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ROC </a:t>
            </a:r>
            <a:r>
              <a:rPr lang="en-GB" sz="12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AUC (0.85):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Strong ability to rank predictions</a:t>
            </a: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</a:p>
          <a:p>
            <a:pPr lvl="0" algn="just">
              <a:buSzPts val="1200"/>
            </a:pPr>
            <a:r>
              <a:rPr lang="en-GB" sz="1200" b="1" dirty="0" smtClean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F1 </a:t>
            </a:r>
            <a:r>
              <a:rPr lang="en-GB" sz="12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Score (0.76): </a:t>
            </a:r>
            <a:r>
              <a:rPr lang="en-GB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High — indicates good balance between precision and recall</a:t>
            </a:r>
            <a:r>
              <a:rPr lang="en-GB" sz="1200" dirty="0" smtClean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9" y="624317"/>
            <a:ext cx="3316894" cy="29461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3763" y="638297"/>
            <a:ext cx="2670810" cy="27249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474" y="921864"/>
            <a:ext cx="2549132" cy="222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67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55"/>
          <p:cNvSpPr txBox="1">
            <a:spLocks noGrp="1"/>
          </p:cNvSpPr>
          <p:nvPr>
            <p:ph type="title"/>
          </p:nvPr>
        </p:nvSpPr>
        <p:spPr>
          <a:xfrm>
            <a:off x="1721756" y="125938"/>
            <a:ext cx="446909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990"/>
            </a:pPr>
            <a:r>
              <a:rPr lang="en-GB" sz="1900" dirty="0" smtClean="0">
                <a:solidFill>
                  <a:srgbClr val="58ADC5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Partial </a:t>
            </a:r>
            <a:r>
              <a:rPr lang="en-GB" sz="1900" dirty="0">
                <a:solidFill>
                  <a:srgbClr val="58ADC5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Dependence Plots (H1N1 Vaccine)</a:t>
            </a:r>
            <a:endParaRPr sz="1900" dirty="0">
              <a:solidFill>
                <a:srgbClr val="58ADC5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01" name="Google Shape;1001;p155"/>
          <p:cNvSpPr txBox="1">
            <a:spLocks noGrp="1"/>
          </p:cNvSpPr>
          <p:nvPr>
            <p:ph type="sldNum" idx="12"/>
          </p:nvPr>
        </p:nvSpPr>
        <p:spPr>
          <a:xfrm>
            <a:off x="8100913" y="482985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 smtClean="0"/>
              <a:t>10</a:t>
            </a:fld>
            <a:r>
              <a:rPr lang="en" dirty="0" smtClean="0"/>
              <a:t>-13</a:t>
            </a:r>
            <a:endParaRPr dirty="0"/>
          </a:p>
        </p:txBody>
      </p:sp>
      <p:sp>
        <p:nvSpPr>
          <p:cNvPr id="1007" name="Google Shape;1007;p155"/>
          <p:cNvSpPr txBox="1"/>
          <p:nvPr/>
        </p:nvSpPr>
        <p:spPr>
          <a:xfrm>
            <a:off x="913546" y="848765"/>
            <a:ext cx="4786859" cy="4047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200" b="1" dirty="0">
                <a:solidFill>
                  <a:srgbClr val="58ADC5"/>
                </a:solidFill>
              </a:rPr>
              <a:t>Key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rgbClr val="58ADC5"/>
                </a:solidFill>
              </a:rPr>
              <a:t>Beliefs and Opinions Matter Most:</a:t>
            </a:r>
            <a:endParaRPr lang="en-GB" sz="1200" dirty="0">
              <a:solidFill>
                <a:srgbClr val="58ADC5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↑ </a:t>
            </a:r>
            <a:r>
              <a:rPr lang="en-GB" sz="1200" i="1" dirty="0"/>
              <a:t>Belief in vaccine effectiveness</a:t>
            </a:r>
            <a:r>
              <a:rPr lang="en-GB" sz="1200" dirty="0"/>
              <a:t> → ↑ Likelihood of vaccination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↑ </a:t>
            </a:r>
            <a:r>
              <a:rPr lang="en-GB" sz="1200" i="1" dirty="0"/>
              <a:t>Flu risk perception</a:t>
            </a:r>
            <a:r>
              <a:rPr lang="en-GB" sz="1200" dirty="0"/>
              <a:t> → ↑ Likelihood of vaccination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↓ </a:t>
            </a:r>
            <a:r>
              <a:rPr lang="en-GB" sz="1200" i="1" dirty="0"/>
              <a:t>Fear of vaccine side effects</a:t>
            </a:r>
            <a:r>
              <a:rPr lang="en-GB" sz="1200" dirty="0"/>
              <a:t> → ↑ Vaccination probability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rgbClr val="58ADC5"/>
                </a:solidFill>
              </a:rPr>
              <a:t>Doctor's Recommendation:</a:t>
            </a:r>
            <a:endParaRPr lang="en-GB" sz="1200" dirty="0">
              <a:solidFill>
                <a:srgbClr val="58ADC5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When a </a:t>
            </a:r>
            <a:r>
              <a:rPr lang="en-GB" sz="1200" b="1" dirty="0"/>
              <a:t>doctor recommends</a:t>
            </a:r>
            <a:r>
              <a:rPr lang="en-GB" sz="1200" dirty="0"/>
              <a:t> the seasonal flu shot, people are </a:t>
            </a:r>
            <a:r>
              <a:rPr lang="en-GB" sz="1200" b="1" dirty="0"/>
              <a:t>significantly more likely</a:t>
            </a:r>
            <a:r>
              <a:rPr lang="en-GB" sz="1200" dirty="0"/>
              <a:t> to take the H1N1 vaccine.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rgbClr val="58ADC5"/>
                </a:solidFill>
              </a:rPr>
              <a:t>Age Factor:</a:t>
            </a:r>
            <a:endParaRPr lang="en-GB" sz="1200" dirty="0">
              <a:solidFill>
                <a:srgbClr val="58ADC5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Older age groups show </a:t>
            </a:r>
            <a:r>
              <a:rPr lang="en-GB" sz="1200" b="1" dirty="0"/>
              <a:t>higher vaccination likelihood</a:t>
            </a:r>
            <a:endParaRPr lang="en-GB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rgbClr val="58ADC5"/>
                </a:solidFill>
              </a:rPr>
              <a:t>Education and Concern:</a:t>
            </a:r>
            <a:endParaRPr lang="en-GB" sz="1200" dirty="0">
              <a:solidFill>
                <a:srgbClr val="58ADC5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Higher education and </a:t>
            </a:r>
            <a:r>
              <a:rPr lang="en-GB" sz="1200" b="1" dirty="0"/>
              <a:t>concern about H1N1</a:t>
            </a:r>
            <a:r>
              <a:rPr lang="en-GB" sz="1200" dirty="0"/>
              <a:t> modestly increase uptake.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rgbClr val="58ADC5"/>
                </a:solidFill>
              </a:rPr>
              <a:t>Minimal Influence from:</a:t>
            </a:r>
            <a:endParaRPr lang="en-GB" sz="1200" dirty="0">
              <a:solidFill>
                <a:srgbClr val="58ADC5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Demographic features like region, number of adults in household, and respondent ID.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Lines for these are mostly </a:t>
            </a:r>
            <a:r>
              <a:rPr lang="en-GB" sz="1200" b="1" dirty="0"/>
              <a:t>flat</a:t>
            </a:r>
            <a:r>
              <a:rPr lang="en-GB" sz="1200" dirty="0"/>
              <a:t>, showing weak effect.</a:t>
            </a:r>
          </a:p>
        </p:txBody>
      </p:sp>
      <p:sp>
        <p:nvSpPr>
          <p:cNvPr id="1008" name="Google Shape;1008;p155"/>
          <p:cNvSpPr txBox="1"/>
          <p:nvPr/>
        </p:nvSpPr>
        <p:spPr>
          <a:xfrm>
            <a:off x="5580050" y="3081400"/>
            <a:ext cx="610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922.091</a:t>
            </a:r>
            <a:endParaRPr sz="700" b="0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09" name="Google Shape;1009;p155"/>
          <p:cNvSpPr txBox="1"/>
          <p:nvPr/>
        </p:nvSpPr>
        <p:spPr>
          <a:xfrm>
            <a:off x="6883275" y="3081400"/>
            <a:ext cx="610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804.469</a:t>
            </a:r>
            <a:endParaRPr sz="700" b="0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  <p:extLst>
      <p:ext uri="{BB962C8B-B14F-4D97-AF65-F5344CB8AC3E}">
        <p14:creationId xmlns:p14="http://schemas.microsoft.com/office/powerpoint/2010/main" val="231161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55"/>
          <p:cNvSpPr txBox="1">
            <a:spLocks noGrp="1"/>
          </p:cNvSpPr>
          <p:nvPr>
            <p:ph type="sldNum" idx="12"/>
          </p:nvPr>
        </p:nvSpPr>
        <p:spPr>
          <a:xfrm>
            <a:off x="8100913" y="482985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 smtClean="0"/>
              <a:t>11</a:t>
            </a:fld>
            <a:r>
              <a:rPr lang="en" dirty="0" smtClean="0"/>
              <a:t>-13</a:t>
            </a:r>
            <a:endParaRPr dirty="0"/>
          </a:p>
        </p:txBody>
      </p:sp>
      <p:sp>
        <p:nvSpPr>
          <p:cNvPr id="1008" name="Google Shape;1008;p155"/>
          <p:cNvSpPr txBox="1"/>
          <p:nvPr/>
        </p:nvSpPr>
        <p:spPr>
          <a:xfrm>
            <a:off x="5580050" y="3081400"/>
            <a:ext cx="610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922.091</a:t>
            </a:r>
            <a:endParaRPr sz="700" b="0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09" name="Google Shape;1009;p155"/>
          <p:cNvSpPr txBox="1"/>
          <p:nvPr/>
        </p:nvSpPr>
        <p:spPr>
          <a:xfrm>
            <a:off x="6883275" y="3081400"/>
            <a:ext cx="610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804.469</a:t>
            </a:r>
            <a:endParaRPr sz="700" b="0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9" y="55756"/>
            <a:ext cx="9094311" cy="504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8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54"/>
          <p:cNvSpPr txBox="1">
            <a:spLocks noGrp="1"/>
          </p:cNvSpPr>
          <p:nvPr>
            <p:ph type="sldNum" idx="12"/>
          </p:nvPr>
        </p:nvSpPr>
        <p:spPr>
          <a:xfrm>
            <a:off x="7964611" y="4852483"/>
            <a:ext cx="390011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 smtClean="0"/>
              <a:t>12</a:t>
            </a:fld>
            <a:r>
              <a:rPr lang="en" dirty="0" smtClean="0"/>
              <a:t>-13</a:t>
            </a:r>
            <a:endParaRPr dirty="0"/>
          </a:p>
        </p:txBody>
      </p:sp>
      <p:sp>
        <p:nvSpPr>
          <p:cNvPr id="982" name="Google Shape;982;p154"/>
          <p:cNvSpPr txBox="1"/>
          <p:nvPr/>
        </p:nvSpPr>
        <p:spPr>
          <a:xfrm>
            <a:off x="-248137" y="111341"/>
            <a:ext cx="749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72850" rIns="72850" bIns="72850" anchor="ctr" anchorCtr="0">
            <a:noAutofit/>
          </a:bodyPr>
          <a:lstStyle/>
          <a:p>
            <a:pPr lvl="0" algn="ctr">
              <a:buSzPts val="2900"/>
            </a:pPr>
            <a:r>
              <a:rPr lang="en-GB" sz="2800" b="1" dirty="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SHAP – Model Interpretability</a:t>
            </a:r>
            <a:endParaRPr sz="2800" b="1" i="0" u="none" strike="noStrike" cap="none" dirty="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Google Shape;983;p154"/>
          <p:cNvSpPr txBox="1"/>
          <p:nvPr/>
        </p:nvSpPr>
        <p:spPr>
          <a:xfrm>
            <a:off x="339549" y="1064537"/>
            <a:ext cx="3183690" cy="45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SzPts val="1200"/>
            </a:pPr>
            <a:r>
              <a:rPr lang="en-GB" sz="1200" b="1" dirty="0" smtClean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SHAP </a:t>
            </a:r>
            <a:r>
              <a:rPr lang="en-GB" sz="12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Summary Plot - H1N1 Vaccine (</a:t>
            </a:r>
            <a:r>
              <a:rPr lang="en-GB" sz="1200" b="1" dirty="0" smtClean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Random Forest Classifier</a:t>
            </a:r>
            <a:r>
              <a:rPr lang="en-GB" sz="12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)</a:t>
            </a:r>
            <a:endParaRPr lang="en-GB" sz="1200" dirty="0" smtClean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024" y="1362270"/>
            <a:ext cx="3293626" cy="30513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881225"/>
            <a:ext cx="4483889" cy="2606021"/>
          </a:xfrm>
          <a:prstGeom prst="rect">
            <a:avLst/>
          </a:prstGeom>
        </p:spPr>
      </p:pic>
      <p:sp>
        <p:nvSpPr>
          <p:cNvPr id="12" name="Google Shape;983;p154"/>
          <p:cNvSpPr txBox="1"/>
          <p:nvPr/>
        </p:nvSpPr>
        <p:spPr>
          <a:xfrm>
            <a:off x="4320633" y="786272"/>
            <a:ext cx="3401382" cy="575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SzPts val="1200"/>
            </a:pPr>
            <a:r>
              <a:rPr lang="en-GB" sz="1200" b="1" dirty="0" smtClean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SHAP </a:t>
            </a:r>
            <a:r>
              <a:rPr lang="en-GB" sz="12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Summary Plot - SEASONAL Vaccine (</a:t>
            </a:r>
            <a:r>
              <a:rPr lang="en-GB" sz="1200" b="1" dirty="0" smtClean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Logistic Regression</a:t>
            </a:r>
            <a:r>
              <a:rPr lang="en-GB" sz="12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)</a:t>
            </a:r>
            <a:endParaRPr lang="en-GB" sz="1200" dirty="0" smtClean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  <p:extLst>
      <p:ext uri="{BB962C8B-B14F-4D97-AF65-F5344CB8AC3E}">
        <p14:creationId xmlns:p14="http://schemas.microsoft.com/office/powerpoint/2010/main" val="2405814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54"/>
          <p:cNvSpPr txBox="1">
            <a:spLocks noGrp="1"/>
          </p:cNvSpPr>
          <p:nvPr>
            <p:ph type="sldNum" idx="12"/>
          </p:nvPr>
        </p:nvSpPr>
        <p:spPr>
          <a:xfrm>
            <a:off x="8332289" y="4836547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/>
          <a:p>
            <a:pPr>
              <a:buSzPct val="100000"/>
            </a:pPr>
            <a:fld id="{00000000-1234-1234-1234-123412341234}" type="slidenum">
              <a:rPr lang="en" smtClean="0">
                <a:solidFill>
                  <a:srgbClr val="5D5D5D"/>
                </a:solidFill>
              </a:rPr>
              <a:pPr>
                <a:buSzPct val="100000"/>
              </a:pPr>
              <a:t>13</a:t>
            </a:fld>
            <a:r>
              <a:rPr lang="en" dirty="0" smtClean="0">
                <a:solidFill>
                  <a:srgbClr val="5D5D5D"/>
                </a:solidFill>
              </a:rPr>
              <a:t>-13</a:t>
            </a:r>
            <a:endParaRPr dirty="0">
              <a:solidFill>
                <a:srgbClr val="5D5D5D"/>
              </a:solidFill>
            </a:endParaRPr>
          </a:p>
        </p:txBody>
      </p:sp>
      <p:sp>
        <p:nvSpPr>
          <p:cNvPr id="982" name="Google Shape;982;p154"/>
          <p:cNvSpPr txBox="1"/>
          <p:nvPr/>
        </p:nvSpPr>
        <p:spPr>
          <a:xfrm>
            <a:off x="-289234" y="111341"/>
            <a:ext cx="7490100" cy="33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72850" rIns="72850" bIns="72850" anchor="ctr" anchorCtr="0">
            <a:noAutofit/>
          </a:bodyPr>
          <a:lstStyle/>
          <a:p>
            <a:pPr algn="ctr">
              <a:buSzPts val="2900"/>
            </a:pPr>
            <a:r>
              <a:rPr lang="en-GB" sz="2800" b="1" dirty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 Logistic Regression – Feature </a:t>
            </a:r>
            <a:r>
              <a:rPr lang="en-GB" sz="2800" b="1" dirty="0" smtClean="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Weights</a:t>
            </a:r>
            <a:endParaRPr sz="2800" b="1" dirty="0">
              <a:solidFill>
                <a:srgbClr val="58ADC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229" y="707980"/>
            <a:ext cx="4153987" cy="24731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01" y="707980"/>
            <a:ext cx="4145828" cy="24707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3266" y="3315140"/>
            <a:ext cx="33252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1200" dirty="0">
                <a:latin typeface="Assistant" panose="020B0604020202020204" charset="-79"/>
                <a:cs typeface="Assistant" panose="020B0604020202020204" charset="-79"/>
              </a:rPr>
              <a:t>This graph highlights that </a:t>
            </a:r>
            <a:r>
              <a:rPr lang="en-GB" sz="1200" b="1" dirty="0">
                <a:latin typeface="Assistant" panose="020B0604020202020204" charset="-79"/>
                <a:cs typeface="Assistant" panose="020B0604020202020204" charset="-79"/>
              </a:rPr>
              <a:t>occupation, medical advice</a:t>
            </a:r>
            <a:r>
              <a:rPr lang="en-GB" sz="1200" dirty="0">
                <a:latin typeface="Assistant" panose="020B0604020202020204" charset="-79"/>
                <a:cs typeface="Assistant" panose="020B0604020202020204" charset="-79"/>
              </a:rPr>
              <a:t>, and </a:t>
            </a:r>
            <a:r>
              <a:rPr lang="en-GB" sz="1200" b="1" dirty="0">
                <a:latin typeface="Assistant" panose="020B0604020202020204" charset="-79"/>
                <a:cs typeface="Assistant" panose="020B0604020202020204" charset="-79"/>
              </a:rPr>
              <a:t>personal opinions</a:t>
            </a:r>
            <a:r>
              <a:rPr lang="en-GB" sz="1200" dirty="0">
                <a:latin typeface="Assistant" panose="020B0604020202020204" charset="-79"/>
                <a:cs typeface="Assistant" panose="020B0604020202020204" charset="-79"/>
              </a:rPr>
              <a:t> are the strongest drivers in H1N1 vaccination </a:t>
            </a:r>
            <a:r>
              <a:rPr lang="en-GB" sz="1200" dirty="0" smtClean="0">
                <a:latin typeface="Assistant" panose="020B0604020202020204" charset="-79"/>
                <a:cs typeface="Assistant" panose="020B0604020202020204" charset="-79"/>
              </a:rPr>
              <a:t>behaviour. </a:t>
            </a:r>
            <a:r>
              <a:rPr lang="en-GB" sz="1200" dirty="0">
                <a:latin typeface="Assistant" panose="020B0604020202020204" charset="-79"/>
                <a:cs typeface="Assistant" panose="020B0604020202020204" charset="-79"/>
              </a:rPr>
              <a:t>Demographic factors and insurance also play a role but are less dominant.</a:t>
            </a:r>
            <a:endParaRPr lang="en-US" sz="1200" dirty="0">
              <a:latin typeface="Assistant" panose="020B0604020202020204" charset="-79"/>
              <a:cs typeface="Assistant" panose="020B0604020202020204" charset="-79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53229" y="3371647"/>
            <a:ext cx="44508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1200" dirty="0">
                <a:latin typeface="Assistant" panose="020B0604020202020204" charset="-79"/>
                <a:cs typeface="Assistant" panose="020B0604020202020204" charset="-79"/>
              </a:rPr>
              <a:t>This bar chart displays both positive and negative influences on H1N1 vaccination based on a logistic regression model. Key predictors like </a:t>
            </a:r>
            <a:r>
              <a:rPr lang="en-GB" sz="1200" b="1" dirty="0">
                <a:latin typeface="Assistant" panose="020B0604020202020204" charset="-79"/>
                <a:cs typeface="Assistant" panose="020B0604020202020204" charset="-79"/>
              </a:rPr>
              <a:t>occupation, industry, and doctor recommendations </a:t>
            </a:r>
            <a:r>
              <a:rPr lang="en-GB" sz="1200" dirty="0">
                <a:latin typeface="Assistant" panose="020B0604020202020204" charset="-79"/>
                <a:cs typeface="Assistant" panose="020B0604020202020204" charset="-79"/>
              </a:rPr>
              <a:t>increase the likelihood of vaccination. Positive opinions about vaccine effectiveness and risk also encourage uptake. Conversely, certain demographics and job sectors are linked to lower vaccination rates.</a:t>
            </a:r>
            <a:endParaRPr lang="en-US" sz="1200" dirty="0">
              <a:latin typeface="Assistant" panose="020B0604020202020204" charset="-79"/>
              <a:cs typeface="Assistant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83631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54"/>
          <p:cNvSpPr txBox="1">
            <a:spLocks noGrp="1"/>
          </p:cNvSpPr>
          <p:nvPr>
            <p:ph type="sldNum" idx="12"/>
          </p:nvPr>
        </p:nvSpPr>
        <p:spPr>
          <a:xfrm>
            <a:off x="8332289" y="4836547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 smtClean="0"/>
              <a:t>14</a:t>
            </a:fld>
            <a:r>
              <a:rPr lang="en" dirty="0" smtClean="0"/>
              <a:t>-13</a:t>
            </a:r>
            <a:endParaRPr dirty="0"/>
          </a:p>
        </p:txBody>
      </p:sp>
      <p:sp>
        <p:nvSpPr>
          <p:cNvPr id="982" name="Google Shape;982;p154"/>
          <p:cNvSpPr txBox="1"/>
          <p:nvPr/>
        </p:nvSpPr>
        <p:spPr>
          <a:xfrm>
            <a:off x="576690" y="89589"/>
            <a:ext cx="7490100" cy="33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72850" rIns="72850" bIns="72850" anchor="ctr" anchorCtr="0">
            <a:noAutofit/>
          </a:bodyPr>
          <a:lstStyle/>
          <a:p>
            <a:pPr lvl="0" algn="ctr">
              <a:buSzPts val="2900"/>
            </a:pPr>
            <a:r>
              <a:rPr lang="en-GB" sz="2800" b="1" dirty="0" smtClean="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Feature </a:t>
            </a:r>
            <a:r>
              <a:rPr lang="en-GB" sz="2800" b="1" dirty="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Importance - H1N1 </a:t>
            </a:r>
            <a:r>
              <a:rPr lang="en-GB" sz="2800" b="1" dirty="0" smtClean="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&amp; Seasonal Vaccine</a:t>
            </a:r>
            <a:endParaRPr sz="2800" b="1" i="0" u="none" strike="noStrike" cap="none" dirty="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1888"/>
            <a:ext cx="4530945" cy="22692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4" y="2886107"/>
            <a:ext cx="4548248" cy="22573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906" y="2912923"/>
            <a:ext cx="4571912" cy="220774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213" y="752317"/>
            <a:ext cx="4319815" cy="209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89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56"/>
          <p:cNvSpPr txBox="1">
            <a:spLocks noGrp="1"/>
          </p:cNvSpPr>
          <p:nvPr>
            <p:ph type="title"/>
          </p:nvPr>
        </p:nvSpPr>
        <p:spPr>
          <a:xfrm>
            <a:off x="377775" y="315087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990"/>
            </a:pPr>
            <a:r>
              <a:rPr lang="en-US" dirty="0">
                <a:solidFill>
                  <a:srgbClr val="58ADC5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K</a:t>
            </a:r>
            <a:r>
              <a:rPr lang="en-US" dirty="0" smtClean="0">
                <a:solidFill>
                  <a:srgbClr val="58ADC5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ey </a:t>
            </a:r>
            <a:r>
              <a:rPr lang="en-US" dirty="0" smtClean="0">
                <a:solidFill>
                  <a:srgbClr val="58ADC5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Features, Insights &amp; Recommendations</a:t>
            </a:r>
            <a:endParaRPr dirty="0">
              <a:solidFill>
                <a:srgbClr val="58ADC5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017" name="Google Shape;1017;p156"/>
          <p:cNvSpPr txBox="1">
            <a:spLocks noGrp="1"/>
          </p:cNvSpPr>
          <p:nvPr>
            <p:ph type="sldNum" idx="12"/>
          </p:nvPr>
        </p:nvSpPr>
        <p:spPr>
          <a:xfrm>
            <a:off x="8592492" y="4812844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 smtClean="0"/>
              <a:t>15</a:t>
            </a:fld>
            <a:r>
              <a:rPr lang="en" dirty="0" smtClean="0"/>
              <a:t>-13</a:t>
            </a:r>
            <a:endParaRPr dirty="0"/>
          </a:p>
        </p:txBody>
      </p:sp>
      <p:grpSp>
        <p:nvGrpSpPr>
          <p:cNvPr id="1018" name="Google Shape;1018;p156"/>
          <p:cNvGrpSpPr/>
          <p:nvPr/>
        </p:nvGrpSpPr>
        <p:grpSpPr>
          <a:xfrm rot="2700000">
            <a:off x="8037030" y="4363644"/>
            <a:ext cx="746975" cy="604247"/>
            <a:chOff x="919500" y="1916075"/>
            <a:chExt cx="1067700" cy="867900"/>
          </a:xfrm>
        </p:grpSpPr>
        <p:sp>
          <p:nvSpPr>
            <p:cNvPr id="1019" name="Google Shape;1019;p156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56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4" name="Google Shape;1024;p156"/>
          <p:cNvSpPr txBox="1"/>
          <p:nvPr/>
        </p:nvSpPr>
        <p:spPr>
          <a:xfrm>
            <a:off x="2411029" y="2965942"/>
            <a:ext cx="3860993" cy="2070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 smtClean="0">
                <a:solidFill>
                  <a:srgbClr val="58ADC5"/>
                </a:solidFill>
              </a:rPr>
              <a:t>Recommendations</a:t>
            </a:r>
          </a:p>
          <a:p>
            <a:endParaRPr lang="en-GB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/>
              <a:t>Strengthen </a:t>
            </a:r>
            <a:r>
              <a:rPr lang="en-GB" sz="1200" b="1" dirty="0"/>
              <a:t>vaccine communication campaigns</a:t>
            </a:r>
            <a:endParaRPr lang="en-GB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/>
              <a:t>Address </a:t>
            </a:r>
            <a:r>
              <a:rPr lang="en-GB" sz="1200" b="1" dirty="0"/>
              <a:t>vaccine hesitancy</a:t>
            </a:r>
            <a:r>
              <a:rPr lang="en-GB" sz="1200" dirty="0"/>
              <a:t> with data-driven messaging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/>
              <a:t>Focus on groups: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Without health insurance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With low vaccine trust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Younger adults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/>
              <a:t>Encourage doctors to promote vaccines during visits</a:t>
            </a:r>
          </a:p>
        </p:txBody>
      </p:sp>
      <p:sp>
        <p:nvSpPr>
          <p:cNvPr id="2" name="Rectangle 1"/>
          <p:cNvSpPr/>
          <p:nvPr/>
        </p:nvSpPr>
        <p:spPr>
          <a:xfrm>
            <a:off x="4582110" y="1066647"/>
            <a:ext cx="3942765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58ADC5"/>
                </a:solidFill>
              </a:rPr>
              <a:t>Key </a:t>
            </a:r>
            <a:r>
              <a:rPr lang="en-GB" b="1" dirty="0" smtClean="0">
                <a:solidFill>
                  <a:srgbClr val="58ADC5"/>
                </a:solidFill>
              </a:rPr>
              <a:t>Insights</a:t>
            </a:r>
          </a:p>
          <a:p>
            <a:endParaRPr lang="en-GB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/>
              <a:t>Trust, access, and risk perception drive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/>
              <a:t>Information campaigns must address safety concerns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/>
              <a:t>Doctor recommendation is a strong influence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/>
              <a:t>Younger populations and uninsured less likely to vaccinate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93305" y="1066647"/>
            <a:ext cx="4572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rgbClr val="58ADC5"/>
                </a:solidFill>
              </a:rPr>
              <a:t>Top Influencing </a:t>
            </a:r>
            <a:r>
              <a:rPr lang="en-GB" b="1" dirty="0" smtClean="0">
                <a:solidFill>
                  <a:srgbClr val="58ADC5"/>
                </a:solidFill>
              </a:rPr>
              <a:t>Features</a:t>
            </a:r>
          </a:p>
          <a:p>
            <a:endParaRPr lang="en-GB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/>
              <a:t>High impact features common across both SHAP </a:t>
            </a:r>
            <a:r>
              <a:rPr lang="en-GB" sz="1200" dirty="0" smtClean="0"/>
              <a:t>and </a:t>
            </a:r>
            <a:r>
              <a:rPr lang="en-GB" sz="1200" dirty="0"/>
              <a:t>LR </a:t>
            </a:r>
            <a:r>
              <a:rPr lang="en-GB" sz="1200" dirty="0" smtClean="0"/>
              <a:t>features models</a:t>
            </a:r>
            <a:r>
              <a:rPr lang="en-GB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Vaccine confidence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Doctor recommendation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Risk perception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Insurance and access to care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6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you!</a:t>
            </a:r>
            <a:endParaRPr b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603" y="4387530"/>
            <a:ext cx="1944793" cy="7559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721</Words>
  <Application>Microsoft Office PowerPoint</Application>
  <PresentationFormat>On-screen Show (16:9)</PresentationFormat>
  <Paragraphs>123</Paragraphs>
  <Slides>16</Slides>
  <Notes>16</Notes>
  <HiddenSlides>3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Roboto Light</vt:lpstr>
      <vt:lpstr>Calibri</vt:lpstr>
      <vt:lpstr>Roboto Medium</vt:lpstr>
      <vt:lpstr>Merriweather</vt:lpstr>
      <vt:lpstr>Arial</vt:lpstr>
      <vt:lpstr>Roboto</vt:lpstr>
      <vt:lpstr>Assistant Medium</vt:lpstr>
      <vt:lpstr>Assistant</vt:lpstr>
      <vt:lpstr>Wingdings</vt:lpstr>
      <vt:lpstr>Proxima Nova</vt:lpstr>
      <vt:lpstr>Simple Light</vt:lpstr>
      <vt:lpstr>Simple Light</vt:lpstr>
      <vt:lpstr>Simple Light</vt:lpstr>
      <vt:lpstr>Simple Light</vt:lpstr>
      <vt:lpstr>Paradigm</vt:lpstr>
      <vt:lpstr>PowerPoint Presentation</vt:lpstr>
      <vt:lpstr>By ALPHA GROUP Assimagbe Albert Raphael &amp; Saad Ali 📊 Based on CDC H1N1 2009 Survey Data</vt:lpstr>
      <vt:lpstr>PowerPoint Presentation</vt:lpstr>
      <vt:lpstr>Dataset Overview</vt:lpstr>
      <vt:lpstr>Exploratory Data Analysis (EDA)</vt:lpstr>
      <vt:lpstr>Exploratory Data Analysis (EDA)</vt:lpstr>
      <vt:lpstr>Target Variable Distribution</vt:lpstr>
      <vt:lpstr>PowerPoint Presentation</vt:lpstr>
      <vt:lpstr>PowerPoint Presentation</vt:lpstr>
      <vt:lpstr>Partial Dependence Plots (H1N1 Vaccine)</vt:lpstr>
      <vt:lpstr>PowerPoint Presentation</vt:lpstr>
      <vt:lpstr>PowerPoint Presentation</vt:lpstr>
      <vt:lpstr>PowerPoint Presentation</vt:lpstr>
      <vt:lpstr>PowerPoint Presentation</vt:lpstr>
      <vt:lpstr>Key Features, Insights &amp; Recommendations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Albert Raphael Assimagbe</dc:creator>
  <cp:lastModifiedBy>Albert Raphael Assimagbe</cp:lastModifiedBy>
  <cp:revision>31</cp:revision>
  <dcterms:modified xsi:type="dcterms:W3CDTF">2025-06-16T18:45:42Z</dcterms:modified>
</cp:coreProperties>
</file>