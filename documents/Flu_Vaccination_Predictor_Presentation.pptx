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64" r:id="rId5"/>
    <p:sldId id="266" r:id="rId6"/>
    <p:sldId id="259" r:id="rId7"/>
    <p:sldId id="263" r:id="rId8"/>
    <p:sldId id="269" r:id="rId9"/>
    <p:sldId id="267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21" d="100"/>
          <a:sy n="121" d="100"/>
        </p:scale>
        <p:origin x="905" y="5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C3102-AD2F-4E66-8055-0D08D7E10047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C15C9-2F3E-47EB-AFB1-8E7C7C9BA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0570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3F1AA3-C030-4792-80AA-E2866697A738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5A8758-86F8-4A31-AD42-BD270808C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7554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5A8758-86F8-4A31-AD42-BD270808CD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567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5A8758-86F8-4A31-AD42-BD270808CD0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018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5A8758-86F8-4A31-AD42-BD270808CD0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562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5A8758-86F8-4A31-AD42-BD270808CD0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77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5A8758-86F8-4A31-AD42-BD270808CD0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170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5A8758-86F8-4A31-AD42-BD270808CD0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698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5A8758-86F8-4A31-AD42-BD270808CD0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4993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5A8758-86F8-4A31-AD42-BD270808CD0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59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5A8758-86F8-4A31-AD42-BD270808CD0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4756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5A8758-86F8-4A31-AD42-BD270808CD0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67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5A8758-86F8-4A31-AD42-BD270808CD0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341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C60D6-4635-422E-A751-28379BDC1291}" type="datetime1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1-10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FD749-F603-44AC-986C-1FA9DFE0EEFF}" type="datetime1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1-10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F1840-6731-4CAC-82E3-5F444FDB7729}" type="datetime1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1-10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EA5A-9E70-4A6F-B66D-894BA1096B59}" type="datetime1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1-10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F89F-7F43-4515-9CC5-B6C73A17E405}" type="datetime1">
              <a:rPr lang="en-US" smtClean="0"/>
              <a:t>4/15/2025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1-10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2FD65-9E7B-4D88-8F49-238CE3E53071}" type="datetime1">
              <a:rPr lang="en-US" smtClean="0"/>
              <a:t>4/15/2025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1-10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15B6-194A-4A19-A5D5-385CD444324C}" type="datetime1">
              <a:rPr lang="en-US" smtClean="0"/>
              <a:t>4/15/2025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1-10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E1ED2-FBF2-46BF-B58B-5C74BBAD1478}" type="datetime1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1-10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CDDE5-C1DD-4D54-82B8-1D16C75A1614}" type="datetime1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1-10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B1E93-D350-4085-A602-742D0F64D08A}" type="datetime1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1-10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59E59-A96A-4DFD-A28A-C0CBA52E13B9}" type="datetime1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1-10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F542B-21D5-406A-8F8A-CA90C817F293}" type="datetime1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1-10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225" y="1697999"/>
            <a:ext cx="7772400" cy="1470025"/>
          </a:xfrm>
        </p:spPr>
        <p:txBody>
          <a:bodyPr/>
          <a:lstStyle/>
          <a:p>
            <a:r>
              <a:rPr dirty="0"/>
              <a:t>Flu Vaccination Predictor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025" y="3516836"/>
            <a:ext cx="6400800" cy="1752600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By ALPHA GROUP</a:t>
            </a:r>
          </a:p>
          <a:p>
            <a:r>
              <a:rPr dirty="0"/>
              <a:t>Assimagbe Albert Raphael &amp; </a:t>
            </a:r>
            <a:r>
              <a:rPr dirty="0" err="1"/>
              <a:t>Saad</a:t>
            </a:r>
            <a:r>
              <a:rPr dirty="0"/>
              <a:t> Ali</a:t>
            </a:r>
          </a:p>
          <a:p>
            <a:r>
              <a:rPr dirty="0"/>
              <a:t>📊 Based on CDC H1N1 2009 Survey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Project Goals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b="1" dirty="0"/>
              <a:t>Objectives:</a:t>
            </a:r>
          </a:p>
          <a:p>
            <a:r>
              <a:rPr sz="2000" dirty="0"/>
              <a:t>- Identify who gets flu vaccines and why</a:t>
            </a:r>
          </a:p>
          <a:p>
            <a:r>
              <a:rPr sz="2000" dirty="0"/>
              <a:t>- Understand role of doctor recommendations</a:t>
            </a:r>
          </a:p>
          <a:p>
            <a:r>
              <a:rPr sz="2000" dirty="0"/>
              <a:t>- Use machine learning to predict vaccine behavior</a:t>
            </a:r>
          </a:p>
          <a:p>
            <a:r>
              <a:rPr sz="2000" dirty="0"/>
              <a:t>- Suggest smart ways to improve vaccination</a:t>
            </a:r>
          </a:p>
          <a:p>
            <a:endParaRPr sz="2000" dirty="0"/>
          </a:p>
          <a:p>
            <a:r>
              <a:rPr sz="2000" b="1" dirty="0"/>
              <a:t>Key Questions:</a:t>
            </a:r>
          </a:p>
          <a:p>
            <a:r>
              <a:rPr sz="2000" dirty="0"/>
              <a:t>- Who avoids the vaccine?</a:t>
            </a:r>
          </a:p>
          <a:p>
            <a:r>
              <a:rPr sz="2000" dirty="0"/>
              <a:t>- Do doctor suggestions help?</a:t>
            </a:r>
          </a:p>
          <a:p>
            <a:r>
              <a:rPr sz="2000" dirty="0"/>
              <a:t>- Which behaviors matter most?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1-10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Source: CDC 2009 H1N1 Survey</a:t>
            </a:r>
          </a:p>
          <a:p>
            <a:r>
              <a:rPr sz="2000" dirty="0"/>
              <a:t>Size: 26,707 people, 36 features</a:t>
            </a:r>
          </a:p>
          <a:p>
            <a:endParaRPr sz="2000" dirty="0"/>
          </a:p>
          <a:p>
            <a:r>
              <a:rPr sz="2000" b="1" dirty="0"/>
              <a:t>Data Includes:</a:t>
            </a:r>
          </a:p>
          <a:p>
            <a:r>
              <a:rPr sz="2000" dirty="0"/>
              <a:t>- Demographics (age, education,</a:t>
            </a:r>
            <a:r>
              <a:rPr lang="en-US" sz="2000" dirty="0"/>
              <a:t> race, gender,</a:t>
            </a:r>
            <a:r>
              <a:rPr sz="2000" dirty="0"/>
              <a:t> etc.)</a:t>
            </a:r>
          </a:p>
          <a:p>
            <a:r>
              <a:rPr sz="2000" dirty="0"/>
              <a:t>- Behaviors (handwashing, avoidance)</a:t>
            </a:r>
          </a:p>
          <a:p>
            <a:r>
              <a:rPr sz="2000" dirty="0"/>
              <a:t>- Health opinions and access</a:t>
            </a:r>
          </a:p>
          <a:p>
            <a:endParaRPr sz="2000" dirty="0"/>
          </a:p>
          <a:p>
            <a:r>
              <a:rPr sz="2000" b="1" dirty="0"/>
              <a:t>Challenge: </a:t>
            </a:r>
            <a:r>
              <a:rPr sz="2000" dirty="0"/>
              <a:t>Missing data in some columns (up to 50%)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2-10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B2B19A18-EB17-47D1-456A-E2236EE98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xmlns="" id="{69D47016-023F-44BD-981C-50E7A10A66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9C25E5-5E66-D0C9-2B1D-F144EC7DA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457200"/>
            <a:ext cx="8318754" cy="102025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dirty="0"/>
              <a:t>Visuals Of </a:t>
            </a:r>
            <a:r>
              <a:rPr lang="en-US" dirty="0" smtClean="0"/>
              <a:t>Race &amp; Age Distributions</a:t>
            </a:r>
            <a:endParaRPr lang="en-US" dirty="0"/>
          </a:p>
        </p:txBody>
      </p:sp>
      <p:pic>
        <p:nvPicPr>
          <p:cNvPr id="12" name="Content Placeholder 11" descr="A pie chart with different colored triangles&#10;&#10;AI-generated content may be incorrect.">
            <a:extLst>
              <a:ext uri="{FF2B5EF4-FFF2-40B4-BE49-F238E27FC236}">
                <a16:creationId xmlns:a16="http://schemas.microsoft.com/office/drawing/2014/main" xmlns="" id="{C4A9B491-01DE-8402-1DFA-8BEF3E4844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30871" y="2132500"/>
            <a:ext cx="3697423" cy="3678936"/>
          </a:xfrm>
          <a:prstGeom prst="rect">
            <a:avLst/>
          </a:prstGeom>
        </p:spPr>
      </p:pic>
      <p:sp>
        <p:nvSpPr>
          <p:cNvPr id="6" name="sketch line">
            <a:extLst>
              <a:ext uri="{FF2B5EF4-FFF2-40B4-BE49-F238E27FC236}">
                <a16:creationId xmlns:a16="http://schemas.microsoft.com/office/drawing/2014/main" xmlns="" id="{D6A9C53F-5F90-40A5-8C85-5412D39C8C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337560" y="1850683"/>
            <a:ext cx="2468880" cy="18288"/>
          </a:xfrm>
          <a:custGeom>
            <a:avLst/>
            <a:gdLst>
              <a:gd name="connsiteX0" fmla="*/ 0 w 2468880"/>
              <a:gd name="connsiteY0" fmla="*/ 0 h 18288"/>
              <a:gd name="connsiteX1" fmla="*/ 592531 w 2468880"/>
              <a:gd name="connsiteY1" fmla="*/ 0 h 18288"/>
              <a:gd name="connsiteX2" fmla="*/ 1160374 w 2468880"/>
              <a:gd name="connsiteY2" fmla="*/ 0 h 18288"/>
              <a:gd name="connsiteX3" fmla="*/ 1728216 w 2468880"/>
              <a:gd name="connsiteY3" fmla="*/ 0 h 18288"/>
              <a:gd name="connsiteX4" fmla="*/ 2468880 w 2468880"/>
              <a:gd name="connsiteY4" fmla="*/ 0 h 18288"/>
              <a:gd name="connsiteX5" fmla="*/ 2468880 w 2468880"/>
              <a:gd name="connsiteY5" fmla="*/ 18288 h 18288"/>
              <a:gd name="connsiteX6" fmla="*/ 1802282 w 2468880"/>
              <a:gd name="connsiteY6" fmla="*/ 18288 h 18288"/>
              <a:gd name="connsiteX7" fmla="*/ 1209751 w 2468880"/>
              <a:gd name="connsiteY7" fmla="*/ 18288 h 18288"/>
              <a:gd name="connsiteX8" fmla="*/ 641909 w 2468880"/>
              <a:gd name="connsiteY8" fmla="*/ 18288 h 18288"/>
              <a:gd name="connsiteX9" fmla="*/ 0 w 2468880"/>
              <a:gd name="connsiteY9" fmla="*/ 18288 h 18288"/>
              <a:gd name="connsiteX10" fmla="*/ 0 w 246888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68880" h="18288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468880" h="18288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 descr="A graph with numbers and a number of persons&#10;&#10;AI-generated content may be incorrect.">
            <a:extLst>
              <a:ext uri="{FF2B5EF4-FFF2-40B4-BE49-F238E27FC236}">
                <a16:creationId xmlns:a16="http://schemas.microsoft.com/office/drawing/2014/main" xmlns="" id="{24AE16AC-6079-E09A-E388-50DF57F6EBA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4676896" y="2132500"/>
            <a:ext cx="4358997" cy="3842138"/>
          </a:xfrm>
          <a:prstGeom prst="rect">
            <a:avLst/>
          </a:prstGeom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3-10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6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33FC1DEE-427B-7ADB-AEE9-F7D604A93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xmlns="" id="{C4879EFC-8E62-4E00-973C-C45EE9EC67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4F07FF-396A-B794-9953-3885F1D35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457200"/>
            <a:ext cx="8182230" cy="136861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en-US" sz="6000" dirty="0"/>
              <a:t>Visuals Of </a:t>
            </a:r>
            <a:r>
              <a:rPr lang="en-US" sz="6000" dirty="0" smtClean="0"/>
              <a:t>Educational Levels </a:t>
            </a:r>
            <a:r>
              <a:rPr lang="en-GB" sz="6000" dirty="0" smtClean="0"/>
              <a:t>&amp; Public Opinion</a:t>
            </a:r>
            <a:endParaRPr lang="en-US" sz="5700" dirty="0"/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xmlns="" id="{D6A9C53F-5F90-40A5-8C85-5412D39C8C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337560" y="1850683"/>
            <a:ext cx="2468880" cy="18288"/>
          </a:xfrm>
          <a:custGeom>
            <a:avLst/>
            <a:gdLst>
              <a:gd name="connsiteX0" fmla="*/ 0 w 2468880"/>
              <a:gd name="connsiteY0" fmla="*/ 0 h 18288"/>
              <a:gd name="connsiteX1" fmla="*/ 592531 w 2468880"/>
              <a:gd name="connsiteY1" fmla="*/ 0 h 18288"/>
              <a:gd name="connsiteX2" fmla="*/ 1160374 w 2468880"/>
              <a:gd name="connsiteY2" fmla="*/ 0 h 18288"/>
              <a:gd name="connsiteX3" fmla="*/ 1728216 w 2468880"/>
              <a:gd name="connsiteY3" fmla="*/ 0 h 18288"/>
              <a:gd name="connsiteX4" fmla="*/ 2468880 w 2468880"/>
              <a:gd name="connsiteY4" fmla="*/ 0 h 18288"/>
              <a:gd name="connsiteX5" fmla="*/ 2468880 w 2468880"/>
              <a:gd name="connsiteY5" fmla="*/ 18288 h 18288"/>
              <a:gd name="connsiteX6" fmla="*/ 1802282 w 2468880"/>
              <a:gd name="connsiteY6" fmla="*/ 18288 h 18288"/>
              <a:gd name="connsiteX7" fmla="*/ 1209751 w 2468880"/>
              <a:gd name="connsiteY7" fmla="*/ 18288 h 18288"/>
              <a:gd name="connsiteX8" fmla="*/ 641909 w 2468880"/>
              <a:gd name="connsiteY8" fmla="*/ 18288 h 18288"/>
              <a:gd name="connsiteX9" fmla="*/ 0 w 2468880"/>
              <a:gd name="connsiteY9" fmla="*/ 18288 h 18288"/>
              <a:gd name="connsiteX10" fmla="*/ 0 w 246888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68880" h="18288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468880" h="18288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aph of a bar graph&#10;&#10;AI-generated content may be incorrect.">
            <a:extLst>
              <a:ext uri="{FF2B5EF4-FFF2-40B4-BE49-F238E27FC236}">
                <a16:creationId xmlns:a16="http://schemas.microsoft.com/office/drawing/2014/main" xmlns="" id="{DCF1AF55-BB4A-9D78-F6E9-E18FC1356C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90872" y="2166634"/>
            <a:ext cx="4450842" cy="3605279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60073"/>
            <a:ext cx="4038600" cy="3206216"/>
          </a:xfrm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4-10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838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3262"/>
            <a:ext cx="8229600" cy="864614"/>
          </a:xfrm>
        </p:spPr>
        <p:txBody>
          <a:bodyPr>
            <a:normAutofit/>
          </a:bodyPr>
          <a:lstStyle/>
          <a:p>
            <a:r>
              <a:rPr lang="en-US" sz="4000" dirty="0"/>
              <a:t>Key Findings &amp; Visuals</a:t>
            </a:r>
            <a:endParaRPr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61" y="2090299"/>
            <a:ext cx="6153462" cy="41348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36885"/>
            <a:ext cx="8229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/>
              <a:t>1. Doctor </a:t>
            </a:r>
            <a:r>
              <a:rPr lang="en-US" sz="3200" dirty="0"/>
              <a:t>Recommendations Influence Vaccination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5-10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930" y="54492"/>
            <a:ext cx="8229600" cy="590213"/>
          </a:xfrm>
        </p:spPr>
        <p:txBody>
          <a:bodyPr>
            <a:noAutofit/>
          </a:bodyPr>
          <a:lstStyle/>
          <a:p>
            <a:r>
              <a:rPr lang="en-US" sz="4000" dirty="0" smtClean="0"/>
              <a:t>Key Of </a:t>
            </a:r>
            <a:r>
              <a:rPr lang="en-US" sz="4000" dirty="0"/>
              <a:t>Findings 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053" y="2166633"/>
            <a:ext cx="5580952" cy="3958700"/>
          </a:xfrm>
        </p:spPr>
      </p:pic>
      <p:sp>
        <p:nvSpPr>
          <p:cNvPr id="3" name="Rectangle 2"/>
          <p:cNvSpPr/>
          <p:nvPr/>
        </p:nvSpPr>
        <p:spPr>
          <a:xfrm>
            <a:off x="490984" y="806553"/>
            <a:ext cx="736474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dirty="0" smtClean="0"/>
              <a:t>2.  Concern </a:t>
            </a:r>
            <a:r>
              <a:rPr lang="en-GB" sz="3200" dirty="0"/>
              <a:t>about </a:t>
            </a:r>
            <a:r>
              <a:rPr lang="en-GB" sz="3200" dirty="0" smtClean="0"/>
              <a:t>H1N1 Virus </a:t>
            </a:r>
            <a:r>
              <a:rPr lang="en-GB" sz="3200" dirty="0"/>
              <a:t>= more </a:t>
            </a:r>
            <a:r>
              <a:rPr lang="en-GB" sz="3200" dirty="0" smtClean="0"/>
              <a:t>handwashing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6-10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5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90213"/>
          </a:xfrm>
        </p:spPr>
        <p:txBody>
          <a:bodyPr>
            <a:noAutofit/>
          </a:bodyPr>
          <a:lstStyle/>
          <a:p>
            <a:r>
              <a:rPr lang="en-US" sz="4000" dirty="0"/>
              <a:t>Key Findings &amp; Visuals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546" y="2389106"/>
            <a:ext cx="6284062" cy="3718906"/>
          </a:xfrm>
        </p:spPr>
      </p:pic>
      <p:sp>
        <p:nvSpPr>
          <p:cNvPr id="3" name="Rectangle 2"/>
          <p:cNvSpPr/>
          <p:nvPr/>
        </p:nvSpPr>
        <p:spPr>
          <a:xfrm>
            <a:off x="828816" y="985384"/>
            <a:ext cx="736474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dirty="0" smtClean="0"/>
              <a:t>3. Older </a:t>
            </a:r>
            <a:r>
              <a:rPr lang="en-GB" sz="3200" dirty="0"/>
              <a:t>adults (65+) more likely to get seasonal flu shots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7-10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6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E2A7CD3E-6FDC-5799-D36E-3836A1AFD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xmlns="" id="{A1D1BBEA-2421-CC82-B770-1FE777DCA3F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3. Older adults (65+) more likely to get seasonal flu shots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0261ED-224B-79F8-29DF-CB0CF2079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130" y="157545"/>
            <a:ext cx="7783425" cy="72979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en-US" sz="4800" dirty="0" smtClean="0"/>
              <a:t>Key Findings &amp; Visuals</a:t>
            </a:r>
            <a:endParaRPr lang="en-US" sz="47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 descr="A red circle with blue and red text&#10;&#10;AI-generated content may be incorrect.">
            <a:extLst>
              <a:ext uri="{FF2B5EF4-FFF2-40B4-BE49-F238E27FC236}">
                <a16:creationId xmlns:a16="http://schemas.microsoft.com/office/drawing/2014/main" xmlns="" id="{46DEBA47-3BAE-AF9B-3153-39DD37CCA8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17215" y="3032098"/>
            <a:ext cx="3833111" cy="3510132"/>
          </a:xfrm>
        </p:spPr>
      </p:pic>
      <p:pic>
        <p:nvPicPr>
          <p:cNvPr id="12" name="Content Placeholder 11" descr="A diagram of a patient condition&#10;&#10;AI-generated content may be incorrect.">
            <a:extLst>
              <a:ext uri="{FF2B5EF4-FFF2-40B4-BE49-F238E27FC236}">
                <a16:creationId xmlns:a16="http://schemas.microsoft.com/office/drawing/2014/main" xmlns="" id="{06D8CF7D-A933-7AC3-F4C7-CB856E97578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777863" y="2923523"/>
            <a:ext cx="4038600" cy="3618707"/>
          </a:xfrm>
        </p:spPr>
      </p:pic>
      <p:sp>
        <p:nvSpPr>
          <p:cNvPr id="4" name="Rectangle 3"/>
          <p:cNvSpPr/>
          <p:nvPr/>
        </p:nvSpPr>
        <p:spPr>
          <a:xfrm>
            <a:off x="139637" y="1217566"/>
            <a:ext cx="878364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/>
              <a:t>4.      4.9% Persons takes Preventive Antiviral Medication while, 28.3% Persons has chronic medical conditions</a:t>
            </a:r>
            <a:endParaRPr lang="en-US" sz="3200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8-10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66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Data </a:t>
            </a:r>
            <a:r>
              <a:rPr dirty="0" smtClean="0"/>
              <a:t>Analysis</a:t>
            </a:r>
            <a:r>
              <a:rPr lang="en-GB" dirty="0"/>
              <a:t> </a:t>
            </a:r>
            <a:r>
              <a:rPr lang="en-GB" dirty="0" smtClean="0"/>
              <a:t>Summary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944758"/>
          </a:xfrm>
        </p:spPr>
        <p:txBody>
          <a:bodyPr>
            <a:normAutofit/>
          </a:bodyPr>
          <a:lstStyle/>
          <a:p>
            <a:r>
              <a:rPr sz="2000" b="1" dirty="0" smtClean="0"/>
              <a:t>Cleaned </a:t>
            </a:r>
            <a:r>
              <a:rPr sz="2000" b="1" dirty="0"/>
              <a:t>all missing </a:t>
            </a:r>
            <a:r>
              <a:rPr sz="2000" b="1" dirty="0" smtClean="0"/>
              <a:t>data</a:t>
            </a:r>
            <a:r>
              <a:rPr lang="en-GB" sz="2000" b="1" dirty="0" smtClean="0"/>
              <a:t>:</a:t>
            </a:r>
            <a:r>
              <a:rPr sz="2000" b="1" dirty="0" smtClean="0"/>
              <a:t> </a:t>
            </a:r>
            <a:endParaRPr lang="en-GB" sz="2000" b="1" dirty="0" smtClean="0"/>
          </a:p>
          <a:p>
            <a:r>
              <a:rPr lang="en-GB" sz="2000" dirty="0"/>
              <a:t> </a:t>
            </a:r>
            <a:r>
              <a:rPr lang="en-GB" sz="2000" dirty="0" smtClean="0"/>
              <a:t>-Dr</a:t>
            </a:r>
            <a:r>
              <a:rPr sz="2000" dirty="0" err="1" smtClean="0"/>
              <a:t>opped</a:t>
            </a:r>
            <a:r>
              <a:rPr sz="2000" dirty="0" smtClean="0"/>
              <a:t> </a:t>
            </a:r>
            <a:r>
              <a:rPr sz="2000" dirty="0"/>
              <a:t>high-missing </a:t>
            </a:r>
            <a:r>
              <a:rPr sz="2000" dirty="0" smtClean="0"/>
              <a:t>columns</a:t>
            </a:r>
            <a:r>
              <a:rPr lang="en-GB" sz="2000" dirty="0" smtClean="0"/>
              <a:t> (</a:t>
            </a:r>
            <a:r>
              <a:rPr lang="en-GB" sz="2000" dirty="0" err="1" smtClean="0"/>
              <a:t>employment_occupation</a:t>
            </a:r>
            <a:r>
              <a:rPr lang="en-GB" sz="2000" dirty="0" smtClean="0"/>
              <a:t> (50 %), </a:t>
            </a:r>
            <a:r>
              <a:rPr lang="en-GB" sz="2000" dirty="0" err="1" smtClean="0"/>
              <a:t>employment_industry</a:t>
            </a:r>
            <a:r>
              <a:rPr lang="en-GB" sz="2000" dirty="0"/>
              <a:t> </a:t>
            </a:r>
            <a:r>
              <a:rPr lang="en-GB" sz="2000" dirty="0" smtClean="0"/>
              <a:t>(49.9%), </a:t>
            </a:r>
            <a:r>
              <a:rPr lang="en-GB" sz="2000" dirty="0" err="1" smtClean="0"/>
              <a:t>health_insurance</a:t>
            </a:r>
            <a:r>
              <a:rPr lang="en-GB" sz="2000" dirty="0"/>
              <a:t> </a:t>
            </a:r>
            <a:r>
              <a:rPr lang="en-GB" sz="2000" dirty="0" smtClean="0"/>
              <a:t>(45.9%), etc.)</a:t>
            </a:r>
            <a:endParaRPr sz="2000" dirty="0"/>
          </a:p>
          <a:p>
            <a:r>
              <a:rPr sz="2000" b="1" dirty="0"/>
              <a:t>Important </a:t>
            </a:r>
            <a:r>
              <a:rPr lang="en-GB" sz="2000" b="1" dirty="0" smtClean="0"/>
              <a:t>Analysis</a:t>
            </a:r>
            <a:r>
              <a:rPr sz="2000" b="1" dirty="0" smtClean="0"/>
              <a:t>:</a:t>
            </a:r>
            <a:endParaRPr sz="2000" b="1" dirty="0"/>
          </a:p>
          <a:p>
            <a:r>
              <a:rPr sz="2000" dirty="0"/>
              <a:t>- Doctor recommendation (47.5%)</a:t>
            </a:r>
          </a:p>
          <a:p>
            <a:r>
              <a:rPr sz="2000" dirty="0"/>
              <a:t>- </a:t>
            </a:r>
            <a:r>
              <a:rPr sz="2000" dirty="0" smtClean="0"/>
              <a:t>H1N1</a:t>
            </a:r>
            <a:r>
              <a:rPr lang="en-GB" sz="2000" dirty="0" smtClean="0"/>
              <a:t> Virus</a:t>
            </a:r>
            <a:r>
              <a:rPr sz="2000" dirty="0" smtClean="0"/>
              <a:t> </a:t>
            </a:r>
            <a:r>
              <a:rPr sz="2000" dirty="0" smtClean="0"/>
              <a:t>concern</a:t>
            </a:r>
            <a:r>
              <a:rPr lang="en-GB" sz="2000" dirty="0"/>
              <a:t> </a:t>
            </a:r>
            <a:r>
              <a:rPr lang="en-GB" sz="2000" dirty="0" smtClean="0"/>
              <a:t>– face mark, wash hand and avoidance </a:t>
            </a:r>
            <a:r>
              <a:rPr sz="2000" dirty="0" smtClean="0"/>
              <a:t>(57.2</a:t>
            </a:r>
            <a:r>
              <a:rPr sz="2000" dirty="0"/>
              <a:t>%)</a:t>
            </a:r>
          </a:p>
          <a:p>
            <a:r>
              <a:rPr sz="2000" dirty="0"/>
              <a:t>- Vaccine effectiveness belief</a:t>
            </a:r>
          </a:p>
          <a:p>
            <a:r>
              <a:rPr sz="2000" dirty="0"/>
              <a:t>- </a:t>
            </a:r>
            <a:r>
              <a:rPr lang="en-GB" sz="2000" dirty="0" smtClean="0"/>
              <a:t>Preventive Antiviral Medical Usage (4.9%)</a:t>
            </a:r>
          </a:p>
          <a:p>
            <a:r>
              <a:rPr lang="en-GB" sz="2000" dirty="0" smtClean="0"/>
              <a:t>- </a:t>
            </a:r>
            <a:r>
              <a:rPr sz="2000" dirty="0" smtClean="0"/>
              <a:t>Chronic conditions</a:t>
            </a:r>
            <a:r>
              <a:rPr lang="en-GB" sz="2000" dirty="0" smtClean="0"/>
              <a:t> (28.3%)</a:t>
            </a:r>
            <a:endParaRPr sz="200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9-10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0783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1. Train doctors to give strong, clear vaccine advice</a:t>
            </a:r>
          </a:p>
          <a:p>
            <a:pPr marL="0" indent="0">
              <a:buNone/>
            </a:pPr>
            <a:r>
              <a:rPr sz="2000" dirty="0"/>
              <a:t>2. Target under-vaccinated groups (50–64 year-olds)</a:t>
            </a:r>
          </a:p>
          <a:p>
            <a:pPr marL="0" indent="0">
              <a:buNone/>
            </a:pPr>
            <a:r>
              <a:rPr sz="2000" dirty="0"/>
              <a:t>3. Use SMS campaigns and infographics</a:t>
            </a:r>
          </a:p>
          <a:p>
            <a:pPr marL="0" indent="0">
              <a:buNone/>
            </a:pPr>
            <a:r>
              <a:rPr sz="2000" dirty="0"/>
              <a:t>4. Promote combined vaccine confidence </a:t>
            </a:r>
            <a:r>
              <a:rPr sz="2000" dirty="0" smtClean="0"/>
              <a:t>messages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6842" y="3493939"/>
            <a:ext cx="82160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Final Thoughts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637" y="4269285"/>
            <a:ext cx="707646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000" dirty="0"/>
              <a:t>✅ Machine learning can help target interventions</a:t>
            </a:r>
          </a:p>
          <a:p>
            <a:pPr algn="just"/>
            <a:endParaRPr lang="en-GB" sz="2000" dirty="0"/>
          </a:p>
          <a:p>
            <a:pPr algn="just"/>
            <a:r>
              <a:rPr lang="en-GB" sz="2000" dirty="0"/>
              <a:t>✅ Beliefs and doctor input matter more than demographics</a:t>
            </a:r>
          </a:p>
          <a:p>
            <a:pPr algn="just"/>
            <a:endParaRPr lang="en-GB" sz="2000" dirty="0"/>
          </a:p>
          <a:p>
            <a:pPr algn="just"/>
            <a:r>
              <a:rPr lang="en-GB" sz="2000" dirty="0"/>
              <a:t>📢 Next step: Build prediction tool for clinics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10-10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376</Words>
  <Application>Microsoft Office PowerPoint</Application>
  <PresentationFormat>On-screen Show (4:3)</PresentationFormat>
  <Paragraphs>78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Flu Vaccination Predictor Project</vt:lpstr>
      <vt:lpstr>Project Goals &amp; Questions</vt:lpstr>
      <vt:lpstr>Dataset Summary</vt:lpstr>
      <vt:lpstr>Visuals Of Race &amp; Age Distributions</vt:lpstr>
      <vt:lpstr>Visuals Of Educational Levels &amp; Public Opinion</vt:lpstr>
      <vt:lpstr>Key Findings &amp; Visuals</vt:lpstr>
      <vt:lpstr>Key Of Findings </vt:lpstr>
      <vt:lpstr>Key Findings &amp; Visuals</vt:lpstr>
      <vt:lpstr>Key Findings &amp; Visuals</vt:lpstr>
      <vt:lpstr>Data Analysis Summary</vt:lpstr>
      <vt:lpstr>Recommendations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 Vaccination Predictor Project</dc:title>
  <dc:subject/>
  <dc:creator>Albert Raphael Assimagbe</dc:creator>
  <cp:keywords/>
  <dc:description>generated using python-pptx</dc:description>
  <cp:lastModifiedBy>Albert Raphael Assimagbe</cp:lastModifiedBy>
  <cp:revision>19</cp:revision>
  <dcterms:created xsi:type="dcterms:W3CDTF">2013-01-27T09:14:16Z</dcterms:created>
  <dcterms:modified xsi:type="dcterms:W3CDTF">2025-04-15T17:23:52Z</dcterms:modified>
  <cp:category/>
</cp:coreProperties>
</file>