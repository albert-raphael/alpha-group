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2"/>
    <p:sldId id="257" r:id="rId3"/>
    <p:sldId id="258" r:id="rId4"/>
    <p:sldId id="264" r:id="rId5"/>
    <p:sldId id="266" r:id="rId6"/>
    <p:sldId id="259" r:id="rId7"/>
    <p:sldId id="263" r:id="rId8"/>
    <p:sldId id="269" r:id="rId9"/>
    <p:sldId id="267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 snapToObjects="1">
      <p:cViewPr varScale="1">
        <p:scale>
          <a:sx n="121" d="100"/>
          <a:sy n="121" d="100"/>
        </p:scale>
        <p:origin x="905" y="5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3C3102-AD2F-4E66-8055-0D08D7E10047}" type="datetimeFigureOut">
              <a:rPr lang="en-US" smtClean="0"/>
              <a:t>4/15/2025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3C15C9-2F3E-47EB-AFB1-8E7C7C9BAA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05709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3F1AA3-C030-4792-80AA-E2866697A738}" type="datetimeFigureOut">
              <a:rPr lang="en-US" smtClean="0"/>
              <a:t>4/15/2025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5A8758-86F8-4A31-AD42-BD270808CD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75541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25A8758-86F8-4A31-AD42-BD270808CD0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5678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25A8758-86F8-4A31-AD42-BD270808CD0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0182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25A8758-86F8-4A31-AD42-BD270808CD0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5620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25A8758-86F8-4A31-AD42-BD270808CD0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7777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25A8758-86F8-4A31-AD42-BD270808CD0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41701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25A8758-86F8-4A31-AD42-BD270808CD0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22698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25A8758-86F8-4A31-AD42-BD270808CD0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4993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25A8758-86F8-4A31-AD42-BD270808CD0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9594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25A8758-86F8-4A31-AD42-BD270808CD0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4756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25A8758-86F8-4A31-AD42-BD270808CD0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967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25A8758-86F8-4A31-AD42-BD270808CD0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341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C60D6-4635-422E-A751-28379BDC1291}" type="datetime1">
              <a:rPr lang="en-US" smtClean="0"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1-10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FFD749-F603-44AC-986C-1FA9DFE0EEFF}" type="datetime1">
              <a:rPr lang="en-US" smtClean="0"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1-10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F1840-6731-4CAC-82E3-5F444FDB7729}" type="datetime1">
              <a:rPr lang="en-US" smtClean="0"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1-10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84EA5A-9E70-4A6F-B66D-894BA1096B59}" type="datetime1">
              <a:rPr lang="en-US" smtClean="0"/>
              <a:t>4/15/2025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1-10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DAF89F-7F43-4515-9CC5-B6C73A17E405}" type="datetime1">
              <a:rPr lang="en-US" smtClean="0"/>
              <a:t>4/15/2025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1-10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2FD65-9E7B-4D88-8F49-238CE3E53071}" type="datetime1">
              <a:rPr lang="en-US" smtClean="0"/>
              <a:t>4/15/2025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1-10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615B6-194A-4A19-A5D5-385CD444324C}" type="datetime1">
              <a:rPr lang="en-US" smtClean="0"/>
              <a:t>4/15/2025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1-10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5E1ED2-FBF2-46BF-B58B-5C74BBAD1478}" type="datetime1">
              <a:rPr lang="en-US" smtClean="0"/>
              <a:t>4/15/2025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1-10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CDDE5-C1DD-4D54-82B8-1D16C75A1614}" type="datetime1">
              <a:rPr lang="en-US" smtClean="0"/>
              <a:t>4/15/2025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1-10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B1E93-D350-4085-A602-742D0F64D08A}" type="datetime1">
              <a:rPr lang="en-US" smtClean="0"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1-10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9E59-A96A-4DFD-A28A-C0CBA52E13B9}" type="datetime1">
              <a:rPr lang="en-US" smtClean="0"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1-10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CF542B-21D5-406A-8F8A-CA90C817F293}" type="datetime1">
              <a:rPr lang="en-US" smtClean="0"/>
              <a:t>4/15/2025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smtClean="0"/>
              <a:t>1-10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9225" y="1697999"/>
            <a:ext cx="7772400" cy="1470025"/>
          </a:xfrm>
        </p:spPr>
        <p:txBody>
          <a:bodyPr/>
          <a:lstStyle/>
          <a:p>
            <a:r>
              <a:rPr dirty="0"/>
              <a:t>Flu Vaccination Predictor Project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95025" y="3516836"/>
            <a:ext cx="6400800" cy="1752600"/>
          </a:xfrm>
        </p:spPr>
        <p:txBody>
          <a:bodyPr>
            <a:normAutofit fontScale="92500" lnSpcReduction="20000"/>
          </a:bodyPr>
          <a:lstStyle/>
          <a:p>
            <a:r>
              <a:rPr dirty="0"/>
              <a:t>By ALPHA GROUP</a:t>
            </a:r>
          </a:p>
          <a:p>
            <a:r>
              <a:rPr dirty="0"/>
              <a:t>Assimagbe Albert Raphael &amp; </a:t>
            </a:r>
            <a:r>
              <a:rPr dirty="0" err="1"/>
              <a:t>Saad</a:t>
            </a:r>
            <a:r>
              <a:rPr dirty="0"/>
              <a:t> Ali</a:t>
            </a:r>
          </a:p>
          <a:p>
            <a:r>
              <a:rPr dirty="0"/>
              <a:t>📊 Based on CDC H1N1 2009 Survey Data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4000" dirty="0"/>
              <a:t>Project Goals &amp;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2000" b="1" dirty="0"/>
              <a:t>Objectives:</a:t>
            </a:r>
          </a:p>
          <a:p>
            <a:r>
              <a:rPr sz="2000" dirty="0"/>
              <a:t>- Identify who gets flu vaccines and why</a:t>
            </a:r>
          </a:p>
          <a:p>
            <a:r>
              <a:rPr sz="2000" dirty="0"/>
              <a:t>- Understand role of doctor recommendations</a:t>
            </a:r>
          </a:p>
          <a:p>
            <a:r>
              <a:rPr sz="2000" dirty="0"/>
              <a:t>- Use machine learning to predict vaccine behavior</a:t>
            </a:r>
          </a:p>
          <a:p>
            <a:r>
              <a:rPr sz="2000" dirty="0"/>
              <a:t>- Suggest smart ways to improve vaccination</a:t>
            </a:r>
          </a:p>
          <a:p>
            <a:endParaRPr sz="2000" dirty="0"/>
          </a:p>
          <a:p>
            <a:r>
              <a:rPr sz="2000" b="1" dirty="0"/>
              <a:t>Key Questions:</a:t>
            </a:r>
          </a:p>
          <a:p>
            <a:r>
              <a:rPr sz="2000" dirty="0"/>
              <a:t>- Who avoids the vaccine?</a:t>
            </a:r>
          </a:p>
          <a:p>
            <a:r>
              <a:rPr sz="2000" dirty="0"/>
              <a:t>- Do doctor suggestions help?</a:t>
            </a:r>
          </a:p>
          <a:p>
            <a:r>
              <a:rPr sz="2000" dirty="0"/>
              <a:t>- Which behaviors matter most?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1-10</a:t>
            </a: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4000" dirty="0"/>
              <a:t>Dataset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2000" dirty="0"/>
              <a:t>Source: CDC 2009 H1N1 Survey</a:t>
            </a:r>
          </a:p>
          <a:p>
            <a:r>
              <a:rPr sz="2000" dirty="0"/>
              <a:t>Size: 26,707 people, 36 features</a:t>
            </a:r>
          </a:p>
          <a:p>
            <a:endParaRPr sz="2000" dirty="0"/>
          </a:p>
          <a:p>
            <a:r>
              <a:rPr sz="2000" b="1" dirty="0"/>
              <a:t>Data Includes:</a:t>
            </a:r>
          </a:p>
          <a:p>
            <a:r>
              <a:rPr sz="2000" dirty="0"/>
              <a:t>- Demographics (age, education,</a:t>
            </a:r>
            <a:r>
              <a:rPr lang="en-US" sz="2000" dirty="0"/>
              <a:t> race, gender,</a:t>
            </a:r>
            <a:r>
              <a:rPr sz="2000" dirty="0"/>
              <a:t> etc.)</a:t>
            </a:r>
          </a:p>
          <a:p>
            <a:r>
              <a:rPr sz="2000" dirty="0"/>
              <a:t>- Behaviors (handwashing, avoidance)</a:t>
            </a:r>
          </a:p>
          <a:p>
            <a:r>
              <a:rPr sz="2000" dirty="0"/>
              <a:t>- Health opinions and access</a:t>
            </a:r>
          </a:p>
          <a:p>
            <a:endParaRPr sz="2000" dirty="0"/>
          </a:p>
          <a:p>
            <a:r>
              <a:rPr sz="2000" b="1" dirty="0"/>
              <a:t>Challenge: </a:t>
            </a:r>
            <a:r>
              <a:rPr sz="2000" dirty="0"/>
              <a:t>Missing data in some columns (up to 50%)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2-10</a:t>
            </a:r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B2B19A18-EB17-47D1-456A-E2236EE98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="" xmlns:a16="http://schemas.microsoft.com/office/drawing/2014/main" id="{69D47016-023F-44BD-981C-50E7A10A6609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FA9C25E5-5E66-D0C9-2B1D-F144EC7DA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202" y="457200"/>
            <a:ext cx="8318754" cy="102025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dirty="0"/>
              <a:t>Visuals Of </a:t>
            </a:r>
            <a:r>
              <a:rPr lang="en-US" dirty="0" smtClean="0"/>
              <a:t>Race &amp; Age Distributions</a:t>
            </a:r>
            <a:endParaRPr lang="en-US" dirty="0"/>
          </a:p>
        </p:txBody>
      </p:sp>
      <p:pic>
        <p:nvPicPr>
          <p:cNvPr id="12" name="Content Placeholder 11" descr="A pie chart with different colored triangles&#10;&#10;AI-generated content may be incorrect.">
            <a:extLst>
              <a:ext uri="{FF2B5EF4-FFF2-40B4-BE49-F238E27FC236}">
                <a16:creationId xmlns="" xmlns:a16="http://schemas.microsoft.com/office/drawing/2014/main" id="{C4A9B491-01DE-8402-1DFA-8BEF3E48445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330871" y="2132500"/>
            <a:ext cx="3697423" cy="3678936"/>
          </a:xfrm>
          <a:prstGeom prst="rect">
            <a:avLst/>
          </a:prstGeom>
        </p:spPr>
      </p:pic>
      <p:sp>
        <p:nvSpPr>
          <p:cNvPr id="6" name="sketch line">
            <a:extLst>
              <a:ext uri="{FF2B5EF4-FFF2-40B4-BE49-F238E27FC236}">
                <a16:creationId xmlns="" xmlns:a16="http://schemas.microsoft.com/office/drawing/2014/main" id="{D6A9C53F-5F90-40A5-8C85-5412D39C8C68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SpPr>
        <p:spPr>
          <a:xfrm>
            <a:off x="3337560" y="1850683"/>
            <a:ext cx="2468880" cy="18288"/>
          </a:xfrm>
          <a:custGeom>
            <a:avLst/>
            <a:gdLst>
              <a:gd name="connsiteX0" fmla="*/ 0 w 2468880"/>
              <a:gd name="connsiteY0" fmla="*/ 0 h 18288"/>
              <a:gd name="connsiteX1" fmla="*/ 592531 w 2468880"/>
              <a:gd name="connsiteY1" fmla="*/ 0 h 18288"/>
              <a:gd name="connsiteX2" fmla="*/ 1160374 w 2468880"/>
              <a:gd name="connsiteY2" fmla="*/ 0 h 18288"/>
              <a:gd name="connsiteX3" fmla="*/ 1728216 w 2468880"/>
              <a:gd name="connsiteY3" fmla="*/ 0 h 18288"/>
              <a:gd name="connsiteX4" fmla="*/ 2468880 w 2468880"/>
              <a:gd name="connsiteY4" fmla="*/ 0 h 18288"/>
              <a:gd name="connsiteX5" fmla="*/ 2468880 w 2468880"/>
              <a:gd name="connsiteY5" fmla="*/ 18288 h 18288"/>
              <a:gd name="connsiteX6" fmla="*/ 1802282 w 2468880"/>
              <a:gd name="connsiteY6" fmla="*/ 18288 h 18288"/>
              <a:gd name="connsiteX7" fmla="*/ 1209751 w 2468880"/>
              <a:gd name="connsiteY7" fmla="*/ 18288 h 18288"/>
              <a:gd name="connsiteX8" fmla="*/ 641909 w 2468880"/>
              <a:gd name="connsiteY8" fmla="*/ 18288 h 18288"/>
              <a:gd name="connsiteX9" fmla="*/ 0 w 2468880"/>
              <a:gd name="connsiteY9" fmla="*/ 18288 h 18288"/>
              <a:gd name="connsiteX10" fmla="*/ 0 w 2468880"/>
              <a:gd name="connsiteY10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468880" h="18288" fill="none" extrusionOk="0">
                <a:moveTo>
                  <a:pt x="0" y="0"/>
                </a:moveTo>
                <a:cubicBezTo>
                  <a:pt x="171523" y="-1510"/>
                  <a:pt x="416079" y="20036"/>
                  <a:pt x="592531" y="0"/>
                </a:cubicBezTo>
                <a:cubicBezTo>
                  <a:pt x="768983" y="-20036"/>
                  <a:pt x="878305" y="13110"/>
                  <a:pt x="1160374" y="0"/>
                </a:cubicBezTo>
                <a:cubicBezTo>
                  <a:pt x="1442443" y="-13110"/>
                  <a:pt x="1612108" y="24695"/>
                  <a:pt x="1728216" y="0"/>
                </a:cubicBezTo>
                <a:cubicBezTo>
                  <a:pt x="1844324" y="-24695"/>
                  <a:pt x="2271040" y="20667"/>
                  <a:pt x="2468880" y="0"/>
                </a:cubicBezTo>
                <a:cubicBezTo>
                  <a:pt x="2468302" y="4771"/>
                  <a:pt x="2469633" y="12323"/>
                  <a:pt x="2468880" y="18288"/>
                </a:cubicBezTo>
                <a:cubicBezTo>
                  <a:pt x="2229297" y="-14659"/>
                  <a:pt x="2066775" y="30253"/>
                  <a:pt x="1802282" y="18288"/>
                </a:cubicBezTo>
                <a:cubicBezTo>
                  <a:pt x="1537789" y="6323"/>
                  <a:pt x="1379930" y="22266"/>
                  <a:pt x="1209751" y="18288"/>
                </a:cubicBezTo>
                <a:cubicBezTo>
                  <a:pt x="1039572" y="14310"/>
                  <a:pt x="837025" y="12850"/>
                  <a:pt x="641909" y="18288"/>
                </a:cubicBezTo>
                <a:cubicBezTo>
                  <a:pt x="446793" y="23726"/>
                  <a:pt x="170561" y="18472"/>
                  <a:pt x="0" y="18288"/>
                </a:cubicBezTo>
                <a:cubicBezTo>
                  <a:pt x="841" y="12879"/>
                  <a:pt x="-726" y="3977"/>
                  <a:pt x="0" y="0"/>
                </a:cubicBezTo>
                <a:close/>
              </a:path>
              <a:path w="2468880" h="18288" stroke="0" extrusionOk="0">
                <a:moveTo>
                  <a:pt x="0" y="0"/>
                </a:moveTo>
                <a:cubicBezTo>
                  <a:pt x="190931" y="24910"/>
                  <a:pt x="333688" y="11559"/>
                  <a:pt x="567842" y="0"/>
                </a:cubicBezTo>
                <a:cubicBezTo>
                  <a:pt x="801996" y="-11559"/>
                  <a:pt x="939971" y="-5677"/>
                  <a:pt x="1234440" y="0"/>
                </a:cubicBezTo>
                <a:cubicBezTo>
                  <a:pt x="1528909" y="5677"/>
                  <a:pt x="1658539" y="5184"/>
                  <a:pt x="1777594" y="0"/>
                </a:cubicBezTo>
                <a:cubicBezTo>
                  <a:pt x="1896649" y="-5184"/>
                  <a:pt x="2186164" y="23915"/>
                  <a:pt x="2468880" y="0"/>
                </a:cubicBezTo>
                <a:cubicBezTo>
                  <a:pt x="2468266" y="8857"/>
                  <a:pt x="2469384" y="13619"/>
                  <a:pt x="2468880" y="18288"/>
                </a:cubicBezTo>
                <a:cubicBezTo>
                  <a:pt x="2271330" y="36599"/>
                  <a:pt x="2001027" y="31554"/>
                  <a:pt x="1876349" y="18288"/>
                </a:cubicBezTo>
                <a:cubicBezTo>
                  <a:pt x="1751671" y="5022"/>
                  <a:pt x="1364652" y="15063"/>
                  <a:pt x="1209751" y="18288"/>
                </a:cubicBezTo>
                <a:cubicBezTo>
                  <a:pt x="1054850" y="21513"/>
                  <a:pt x="748438" y="20074"/>
                  <a:pt x="617220" y="18288"/>
                </a:cubicBezTo>
                <a:cubicBezTo>
                  <a:pt x="486002" y="16502"/>
                  <a:pt x="237432" y="27200"/>
                  <a:pt x="0" y="18288"/>
                </a:cubicBezTo>
                <a:cubicBezTo>
                  <a:pt x="-487" y="10816"/>
                  <a:pt x="-839" y="605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=""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Content Placeholder 9" descr="A graph with numbers and a number of persons&#10;&#10;AI-generated content may be incorrect.">
            <a:extLst>
              <a:ext uri="{FF2B5EF4-FFF2-40B4-BE49-F238E27FC236}">
                <a16:creationId xmlns="" xmlns:a16="http://schemas.microsoft.com/office/drawing/2014/main" id="{24AE16AC-6079-E09A-E388-50DF57F6EBA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/>
          <a:stretch>
            <a:fillRect/>
          </a:stretch>
        </p:blipFill>
        <p:spPr>
          <a:xfrm>
            <a:off x="4676896" y="2132500"/>
            <a:ext cx="4358997" cy="3842138"/>
          </a:xfrm>
          <a:prstGeom prst="rect">
            <a:avLst/>
          </a:prstGeom>
        </p:spPr>
      </p:pic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3-10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2266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33FC1DEE-427B-7ADB-AEE9-F7D604A93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="" xmlns:a16="http://schemas.microsoft.com/office/drawing/2014/main" id="{C4879EFC-8E62-4E00-973C-C45EE9EC676D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6D4F07FF-396A-B794-9953-3885F1D35F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160" y="457200"/>
            <a:ext cx="8182230" cy="1368614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pPr defTabSz="914400">
              <a:lnSpc>
                <a:spcPct val="90000"/>
              </a:lnSpc>
            </a:pPr>
            <a:r>
              <a:rPr lang="en-US" sz="6000" dirty="0"/>
              <a:t>Visuals Of </a:t>
            </a:r>
            <a:r>
              <a:rPr lang="en-US" sz="6000" dirty="0" smtClean="0"/>
              <a:t>Educational Levels </a:t>
            </a:r>
            <a:r>
              <a:rPr lang="en-GB" sz="6000" dirty="0" smtClean="0"/>
              <a:t>&amp; Public Opinion</a:t>
            </a:r>
            <a:endParaRPr lang="en-US" sz="5700" dirty="0"/>
          </a:p>
        </p:txBody>
      </p:sp>
      <p:sp>
        <p:nvSpPr>
          <p:cNvPr id="31" name="sketch line">
            <a:extLst>
              <a:ext uri="{FF2B5EF4-FFF2-40B4-BE49-F238E27FC236}">
                <a16:creationId xmlns="" xmlns:a16="http://schemas.microsoft.com/office/drawing/2014/main" id="{D6A9C53F-5F90-40A5-8C85-5412D39C8C68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SpPr>
        <p:spPr>
          <a:xfrm>
            <a:off x="3337560" y="1850683"/>
            <a:ext cx="2468880" cy="18288"/>
          </a:xfrm>
          <a:custGeom>
            <a:avLst/>
            <a:gdLst>
              <a:gd name="connsiteX0" fmla="*/ 0 w 2468880"/>
              <a:gd name="connsiteY0" fmla="*/ 0 h 18288"/>
              <a:gd name="connsiteX1" fmla="*/ 592531 w 2468880"/>
              <a:gd name="connsiteY1" fmla="*/ 0 h 18288"/>
              <a:gd name="connsiteX2" fmla="*/ 1160374 w 2468880"/>
              <a:gd name="connsiteY2" fmla="*/ 0 h 18288"/>
              <a:gd name="connsiteX3" fmla="*/ 1728216 w 2468880"/>
              <a:gd name="connsiteY3" fmla="*/ 0 h 18288"/>
              <a:gd name="connsiteX4" fmla="*/ 2468880 w 2468880"/>
              <a:gd name="connsiteY4" fmla="*/ 0 h 18288"/>
              <a:gd name="connsiteX5" fmla="*/ 2468880 w 2468880"/>
              <a:gd name="connsiteY5" fmla="*/ 18288 h 18288"/>
              <a:gd name="connsiteX6" fmla="*/ 1802282 w 2468880"/>
              <a:gd name="connsiteY6" fmla="*/ 18288 h 18288"/>
              <a:gd name="connsiteX7" fmla="*/ 1209751 w 2468880"/>
              <a:gd name="connsiteY7" fmla="*/ 18288 h 18288"/>
              <a:gd name="connsiteX8" fmla="*/ 641909 w 2468880"/>
              <a:gd name="connsiteY8" fmla="*/ 18288 h 18288"/>
              <a:gd name="connsiteX9" fmla="*/ 0 w 2468880"/>
              <a:gd name="connsiteY9" fmla="*/ 18288 h 18288"/>
              <a:gd name="connsiteX10" fmla="*/ 0 w 2468880"/>
              <a:gd name="connsiteY10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468880" h="18288" fill="none" extrusionOk="0">
                <a:moveTo>
                  <a:pt x="0" y="0"/>
                </a:moveTo>
                <a:cubicBezTo>
                  <a:pt x="171523" y="-1510"/>
                  <a:pt x="416079" y="20036"/>
                  <a:pt x="592531" y="0"/>
                </a:cubicBezTo>
                <a:cubicBezTo>
                  <a:pt x="768983" y="-20036"/>
                  <a:pt x="878305" y="13110"/>
                  <a:pt x="1160374" y="0"/>
                </a:cubicBezTo>
                <a:cubicBezTo>
                  <a:pt x="1442443" y="-13110"/>
                  <a:pt x="1612108" y="24695"/>
                  <a:pt x="1728216" y="0"/>
                </a:cubicBezTo>
                <a:cubicBezTo>
                  <a:pt x="1844324" y="-24695"/>
                  <a:pt x="2271040" y="20667"/>
                  <a:pt x="2468880" y="0"/>
                </a:cubicBezTo>
                <a:cubicBezTo>
                  <a:pt x="2468302" y="4771"/>
                  <a:pt x="2469633" y="12323"/>
                  <a:pt x="2468880" y="18288"/>
                </a:cubicBezTo>
                <a:cubicBezTo>
                  <a:pt x="2229297" y="-14659"/>
                  <a:pt x="2066775" y="30253"/>
                  <a:pt x="1802282" y="18288"/>
                </a:cubicBezTo>
                <a:cubicBezTo>
                  <a:pt x="1537789" y="6323"/>
                  <a:pt x="1379930" y="22266"/>
                  <a:pt x="1209751" y="18288"/>
                </a:cubicBezTo>
                <a:cubicBezTo>
                  <a:pt x="1039572" y="14310"/>
                  <a:pt x="837025" y="12850"/>
                  <a:pt x="641909" y="18288"/>
                </a:cubicBezTo>
                <a:cubicBezTo>
                  <a:pt x="446793" y="23726"/>
                  <a:pt x="170561" y="18472"/>
                  <a:pt x="0" y="18288"/>
                </a:cubicBezTo>
                <a:cubicBezTo>
                  <a:pt x="841" y="12879"/>
                  <a:pt x="-726" y="3977"/>
                  <a:pt x="0" y="0"/>
                </a:cubicBezTo>
                <a:close/>
              </a:path>
              <a:path w="2468880" h="18288" stroke="0" extrusionOk="0">
                <a:moveTo>
                  <a:pt x="0" y="0"/>
                </a:moveTo>
                <a:cubicBezTo>
                  <a:pt x="190931" y="24910"/>
                  <a:pt x="333688" y="11559"/>
                  <a:pt x="567842" y="0"/>
                </a:cubicBezTo>
                <a:cubicBezTo>
                  <a:pt x="801996" y="-11559"/>
                  <a:pt x="939971" y="-5677"/>
                  <a:pt x="1234440" y="0"/>
                </a:cubicBezTo>
                <a:cubicBezTo>
                  <a:pt x="1528909" y="5677"/>
                  <a:pt x="1658539" y="5184"/>
                  <a:pt x="1777594" y="0"/>
                </a:cubicBezTo>
                <a:cubicBezTo>
                  <a:pt x="1896649" y="-5184"/>
                  <a:pt x="2186164" y="23915"/>
                  <a:pt x="2468880" y="0"/>
                </a:cubicBezTo>
                <a:cubicBezTo>
                  <a:pt x="2468266" y="8857"/>
                  <a:pt x="2469384" y="13619"/>
                  <a:pt x="2468880" y="18288"/>
                </a:cubicBezTo>
                <a:cubicBezTo>
                  <a:pt x="2271330" y="36599"/>
                  <a:pt x="2001027" y="31554"/>
                  <a:pt x="1876349" y="18288"/>
                </a:cubicBezTo>
                <a:cubicBezTo>
                  <a:pt x="1751671" y="5022"/>
                  <a:pt x="1364652" y="15063"/>
                  <a:pt x="1209751" y="18288"/>
                </a:cubicBezTo>
                <a:cubicBezTo>
                  <a:pt x="1054850" y="21513"/>
                  <a:pt x="748438" y="20074"/>
                  <a:pt x="617220" y="18288"/>
                </a:cubicBezTo>
                <a:cubicBezTo>
                  <a:pt x="486002" y="16502"/>
                  <a:pt x="237432" y="27200"/>
                  <a:pt x="0" y="18288"/>
                </a:cubicBezTo>
                <a:cubicBezTo>
                  <a:pt x="-487" y="10816"/>
                  <a:pt x="-839" y="605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=""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Content Placeholder 3" descr="A graph of a bar graph&#10;&#10;AI-generated content may be incorrect.">
            <a:extLst>
              <a:ext uri="{FF2B5EF4-FFF2-40B4-BE49-F238E27FC236}">
                <a16:creationId xmlns="" xmlns:a16="http://schemas.microsoft.com/office/drawing/2014/main" id="{DCF1AF55-BB4A-9D78-F6E9-E18FC1356C3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4690872" y="2166634"/>
            <a:ext cx="4450842" cy="3605279"/>
          </a:xfrm>
          <a:prstGeom prst="rect">
            <a:avLst/>
          </a:prstGeom>
        </p:spPr>
      </p:pic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260073"/>
            <a:ext cx="4038600" cy="3206216"/>
          </a:xfrm>
        </p:spPr>
      </p:pic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4-10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98384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3262"/>
            <a:ext cx="8229600" cy="864614"/>
          </a:xfrm>
        </p:spPr>
        <p:txBody>
          <a:bodyPr>
            <a:normAutofit/>
          </a:bodyPr>
          <a:lstStyle/>
          <a:p>
            <a:r>
              <a:rPr lang="en-US" sz="4000" dirty="0"/>
              <a:t>Key Findings &amp; Visuals</a:t>
            </a:r>
            <a:endParaRPr sz="40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361" y="2090299"/>
            <a:ext cx="6153462" cy="413482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936885"/>
            <a:ext cx="822960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200" dirty="0" smtClean="0"/>
              <a:t>1. Doctor </a:t>
            </a:r>
            <a:r>
              <a:rPr lang="en-US" sz="3200" dirty="0"/>
              <a:t>Recommendations Influence Vaccination</a:t>
            </a: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5-10</a:t>
            </a: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6930" y="54492"/>
            <a:ext cx="8229600" cy="590213"/>
          </a:xfrm>
        </p:spPr>
        <p:txBody>
          <a:bodyPr>
            <a:noAutofit/>
          </a:bodyPr>
          <a:lstStyle/>
          <a:p>
            <a:r>
              <a:rPr lang="en-US" sz="4000" dirty="0" smtClean="0"/>
              <a:t>Key Of </a:t>
            </a:r>
            <a:r>
              <a:rPr lang="en-US" sz="4000" dirty="0"/>
              <a:t>Findings </a:t>
            </a:r>
          </a:p>
        </p:txBody>
      </p:sp>
      <p:pic>
        <p:nvPicPr>
          <p:cNvPr id="10" name="Content Placeholder 9"/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053" y="2166633"/>
            <a:ext cx="5580952" cy="3958700"/>
          </a:xfrm>
        </p:spPr>
      </p:pic>
      <p:sp>
        <p:nvSpPr>
          <p:cNvPr id="3" name="Rectangle 2"/>
          <p:cNvSpPr/>
          <p:nvPr/>
        </p:nvSpPr>
        <p:spPr>
          <a:xfrm>
            <a:off x="869356" y="867060"/>
            <a:ext cx="7364748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3200" dirty="0" smtClean="0"/>
              <a:t>2.  Concern </a:t>
            </a:r>
            <a:r>
              <a:rPr lang="en-GB" sz="3200" dirty="0"/>
              <a:t>about </a:t>
            </a:r>
            <a:r>
              <a:rPr lang="en-GB" sz="3200" dirty="0" smtClean="0"/>
              <a:t>H1N1 Virus </a:t>
            </a:r>
            <a:r>
              <a:rPr lang="en-GB" sz="3200" dirty="0"/>
              <a:t>= more </a:t>
            </a:r>
            <a:r>
              <a:rPr lang="en-GB" sz="3200" dirty="0" smtClean="0"/>
              <a:t>handwashing</a:t>
            </a:r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6-10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19551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590213"/>
          </a:xfrm>
        </p:spPr>
        <p:txBody>
          <a:bodyPr>
            <a:noAutofit/>
          </a:bodyPr>
          <a:lstStyle/>
          <a:p>
            <a:r>
              <a:rPr lang="en-US" sz="4000" dirty="0"/>
              <a:t>Key Findings &amp; Visuals</a:t>
            </a:r>
            <a:endParaRPr lang="en-US" sz="4000" dirty="0"/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5546" y="2389106"/>
            <a:ext cx="6284062" cy="3718906"/>
          </a:xfrm>
        </p:spPr>
      </p:pic>
      <p:sp>
        <p:nvSpPr>
          <p:cNvPr id="3" name="Rectangle 2"/>
          <p:cNvSpPr/>
          <p:nvPr/>
        </p:nvSpPr>
        <p:spPr>
          <a:xfrm>
            <a:off x="828816" y="985384"/>
            <a:ext cx="7364748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3200" dirty="0" smtClean="0"/>
              <a:t>3. Older </a:t>
            </a:r>
            <a:r>
              <a:rPr lang="en-GB" sz="3200" dirty="0"/>
              <a:t>adults (65+) more likely to get seasonal flu shots</a:t>
            </a:r>
            <a:endParaRPr lang="en-GB" sz="3200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7-10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699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E2A7CD3E-6FDC-5799-D36E-3836A1AFD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="" xmlns:a16="http://schemas.microsoft.com/office/drawing/2014/main" id="{A1D1BBEA-2421-CC82-B770-1FE777DCA3F2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3. Older adults (65+) more likely to get seasonal flu shots</a:t>
            </a:r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830261ED-224B-79F8-29DF-CB0CF20791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130" y="157545"/>
            <a:ext cx="7783425" cy="729798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defTabSz="914400">
              <a:lnSpc>
                <a:spcPct val="90000"/>
              </a:lnSpc>
            </a:pPr>
            <a:r>
              <a:rPr lang="en-US" sz="4800" dirty="0" smtClean="0"/>
              <a:t>Key </a:t>
            </a:r>
            <a:r>
              <a:rPr lang="en-US" sz="4800" dirty="0" smtClean="0"/>
              <a:t>Findings &amp; Visuals</a:t>
            </a:r>
            <a:endParaRPr lang="en-US" sz="47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5" name="Content Placeholder 4" descr="A red circle with blue and red text&#10;&#10;AI-generated content may be incorrect.">
            <a:extLst>
              <a:ext uri="{FF2B5EF4-FFF2-40B4-BE49-F238E27FC236}">
                <a16:creationId xmlns="" xmlns:a16="http://schemas.microsoft.com/office/drawing/2014/main" id="{46DEBA47-3BAE-AF9B-3153-39DD37CCA8C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617215" y="3032098"/>
            <a:ext cx="3833111" cy="3510132"/>
          </a:xfrm>
        </p:spPr>
      </p:pic>
      <p:pic>
        <p:nvPicPr>
          <p:cNvPr id="12" name="Content Placeholder 11" descr="A diagram of a patient condition&#10;&#10;AI-generated content may be incorrect.">
            <a:extLst>
              <a:ext uri="{FF2B5EF4-FFF2-40B4-BE49-F238E27FC236}">
                <a16:creationId xmlns="" xmlns:a16="http://schemas.microsoft.com/office/drawing/2014/main" id="{06D8CF7D-A933-7AC3-F4C7-CB856E97578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4777863" y="2923523"/>
            <a:ext cx="4038600" cy="3618707"/>
          </a:xfrm>
        </p:spPr>
      </p:pic>
      <p:sp>
        <p:nvSpPr>
          <p:cNvPr id="4" name="Rectangle 3"/>
          <p:cNvSpPr/>
          <p:nvPr/>
        </p:nvSpPr>
        <p:spPr>
          <a:xfrm>
            <a:off x="139637" y="1217566"/>
            <a:ext cx="8783645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200" dirty="0" smtClean="0"/>
              <a:t>4.      4.9% Persons takes Preventive Antiviral Medication while, 28.3% Persons has chronic medical conditions</a:t>
            </a:r>
            <a:endParaRPr lang="en-US" sz="3200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8-10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0664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Model &amp;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944758"/>
          </a:xfrm>
        </p:spPr>
        <p:txBody>
          <a:bodyPr>
            <a:normAutofit/>
          </a:bodyPr>
          <a:lstStyle/>
          <a:p>
            <a:r>
              <a:rPr sz="2000" dirty="0"/>
              <a:t>- Cleaned all missing data (used imputation or dropped high-missing columns)</a:t>
            </a:r>
          </a:p>
          <a:p>
            <a:r>
              <a:rPr sz="2000" dirty="0"/>
              <a:t>- Used logistic regression and feature importance to analyze impact</a:t>
            </a:r>
          </a:p>
          <a:p>
            <a:endParaRPr sz="2000" dirty="0"/>
          </a:p>
          <a:p>
            <a:r>
              <a:rPr sz="2000" b="1" dirty="0"/>
              <a:t>Important </a:t>
            </a:r>
            <a:r>
              <a:rPr lang="en-GB" sz="2000" b="1" dirty="0" smtClean="0"/>
              <a:t>Analysis</a:t>
            </a:r>
            <a:r>
              <a:rPr sz="2000" b="1" dirty="0" smtClean="0"/>
              <a:t>:</a:t>
            </a:r>
            <a:endParaRPr sz="2000" b="1" dirty="0"/>
          </a:p>
          <a:p>
            <a:r>
              <a:rPr sz="2000" dirty="0"/>
              <a:t>- Doctor recommendation (47.5%)</a:t>
            </a:r>
          </a:p>
          <a:p>
            <a:r>
              <a:rPr sz="2000" dirty="0"/>
              <a:t>- </a:t>
            </a:r>
            <a:r>
              <a:rPr sz="2000" dirty="0" smtClean="0"/>
              <a:t>H1N1</a:t>
            </a:r>
            <a:r>
              <a:rPr lang="en-GB" sz="2000" dirty="0" smtClean="0"/>
              <a:t> Virus</a:t>
            </a:r>
            <a:r>
              <a:rPr sz="2000" dirty="0" smtClean="0"/>
              <a:t> </a:t>
            </a:r>
            <a:r>
              <a:rPr sz="2000" dirty="0"/>
              <a:t>concern (57.2%)</a:t>
            </a:r>
          </a:p>
          <a:p>
            <a:r>
              <a:rPr sz="2000" dirty="0"/>
              <a:t>- Vaccine effectiveness belief</a:t>
            </a:r>
          </a:p>
          <a:p>
            <a:r>
              <a:rPr sz="2000" dirty="0"/>
              <a:t>- </a:t>
            </a:r>
            <a:r>
              <a:rPr lang="en-GB" sz="2000" dirty="0" smtClean="0"/>
              <a:t>Preventive Antiviral Medical Usage (4.9%)</a:t>
            </a:r>
          </a:p>
          <a:p>
            <a:r>
              <a:rPr lang="en-GB" sz="2000" dirty="0" smtClean="0"/>
              <a:t>- </a:t>
            </a:r>
            <a:r>
              <a:rPr sz="2000" dirty="0" smtClean="0"/>
              <a:t>Chronic conditions</a:t>
            </a:r>
            <a:r>
              <a:rPr lang="en-GB" sz="2000" dirty="0" smtClean="0"/>
              <a:t> (28.3%)</a:t>
            </a:r>
            <a:endParaRPr sz="2000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9-10</a:t>
            </a: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4000" dirty="0"/>
              <a:t>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20783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sz="2000" dirty="0"/>
              <a:t>1. Train doctors to give strong, clear vaccine advice</a:t>
            </a:r>
          </a:p>
          <a:p>
            <a:pPr marL="0" indent="0">
              <a:buNone/>
            </a:pPr>
            <a:r>
              <a:rPr sz="2000" dirty="0"/>
              <a:t>2. Target under-vaccinated groups (50–64 year-olds)</a:t>
            </a:r>
          </a:p>
          <a:p>
            <a:pPr marL="0" indent="0">
              <a:buNone/>
            </a:pPr>
            <a:r>
              <a:rPr sz="2000" dirty="0"/>
              <a:t>3. Use SMS campaigns and infographics</a:t>
            </a:r>
          </a:p>
          <a:p>
            <a:pPr marL="0" indent="0">
              <a:buNone/>
            </a:pPr>
            <a:r>
              <a:rPr sz="2000" dirty="0"/>
              <a:t>4. Promote combined vaccine confidence messages</a:t>
            </a:r>
          </a:p>
          <a:p>
            <a:pPr marL="0" indent="0">
              <a:buNone/>
            </a:pPr>
            <a:r>
              <a:rPr sz="2000" dirty="0"/>
              <a:t>5. Improve future surveys: ask about access and timing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46842" y="3678515"/>
            <a:ext cx="821608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4000" dirty="0"/>
              <a:t>Final Thoughts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637" y="4386401"/>
            <a:ext cx="7076465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GB" sz="2000" dirty="0"/>
              <a:t>✅ Machine learning can help target interventions</a:t>
            </a:r>
          </a:p>
          <a:p>
            <a:pPr algn="just"/>
            <a:endParaRPr lang="en-GB" sz="2000" dirty="0"/>
          </a:p>
          <a:p>
            <a:pPr algn="just"/>
            <a:r>
              <a:rPr lang="en-GB" sz="2000" dirty="0"/>
              <a:t>✅ Beliefs and doctor input matter more than demographics</a:t>
            </a:r>
          </a:p>
          <a:p>
            <a:pPr algn="just"/>
            <a:endParaRPr lang="en-GB" sz="2000" dirty="0"/>
          </a:p>
          <a:p>
            <a:pPr algn="just"/>
            <a:r>
              <a:rPr lang="en-GB" sz="2000" dirty="0"/>
              <a:t>📢 Next step: Build prediction tool for clinics</a:t>
            </a:r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10-10</a:t>
            </a: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1013</TotalTime>
  <Words>376</Words>
  <Application>Microsoft Office PowerPoint</Application>
  <PresentationFormat>On-screen Show (4:3)</PresentationFormat>
  <Paragraphs>80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Flu Vaccination Predictor Project</vt:lpstr>
      <vt:lpstr>Project Goals &amp; Questions</vt:lpstr>
      <vt:lpstr>Dataset Summary</vt:lpstr>
      <vt:lpstr>Visuals Of Race &amp; Age Distributions</vt:lpstr>
      <vt:lpstr>Visuals Of Educational Levels &amp; Public Opinion</vt:lpstr>
      <vt:lpstr>Key Findings &amp; Visuals</vt:lpstr>
      <vt:lpstr>Key Of Findings </vt:lpstr>
      <vt:lpstr>Key Findings &amp; Visuals</vt:lpstr>
      <vt:lpstr>Key Findings &amp; Visuals</vt:lpstr>
      <vt:lpstr>Model &amp; Analysis</vt:lpstr>
      <vt:lpstr>Recommendations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Flu Vaccination Predictor Project</dc:title>
  <dc:subject/>
  <dc:creator>Albert Raphael Assimagbe</dc:creator>
  <cp:keywords/>
  <dc:description>generated using python-pptx</dc:description>
  <cp:lastModifiedBy>Albert Raphael Assimagbe</cp:lastModifiedBy>
  <cp:revision>17</cp:revision>
  <dcterms:created xsi:type="dcterms:W3CDTF">2013-01-27T09:14:16Z</dcterms:created>
  <dcterms:modified xsi:type="dcterms:W3CDTF">2025-04-15T17:04:21Z</dcterms:modified>
  <cp:category/>
</cp:coreProperties>
</file>