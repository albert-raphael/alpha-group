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7" r:id="rId4"/>
    <p:sldId id="272" r:id="rId5"/>
    <p:sldId id="275" r:id="rId6"/>
    <p:sldId id="273" r:id="rId7"/>
    <p:sldId id="267" r:id="rId8"/>
    <p:sldId id="274" r:id="rId9"/>
    <p:sldId id="268" r:id="rId10"/>
    <p:sldId id="271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69" y="10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2151" y="1235882"/>
            <a:ext cx="8229600" cy="1143000"/>
          </a:xfrm>
        </p:spPr>
        <p:txBody>
          <a:bodyPr>
            <a:noAutofit/>
          </a:bodyPr>
          <a:lstStyle/>
          <a:p>
            <a:r>
              <a:rPr lang="en-GB" dirty="0"/>
              <a:t>Sprint </a:t>
            </a:r>
            <a:r>
              <a:rPr lang="en-GB" dirty="0" smtClean="0"/>
              <a:t>2: </a:t>
            </a:r>
            <a:r>
              <a:rPr lang="en-GB" dirty="0"/>
              <a:t>Flu Vaccination Predictor Project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288093"/>
            <a:ext cx="8229600" cy="2588051"/>
          </a:xfrm>
        </p:spPr>
        <p:txBody>
          <a:bodyPr/>
          <a:lstStyle/>
          <a:p>
            <a:pPr marL="0" indent="0" algn="ctr">
              <a:buNone/>
            </a:pPr>
            <a:r>
              <a:rPr lang="en-GB" dirty="0"/>
              <a:t>By ALPHA GROUP</a:t>
            </a:r>
          </a:p>
          <a:p>
            <a:pPr marL="0" indent="0" algn="ctr">
              <a:buNone/>
            </a:pPr>
            <a:r>
              <a:rPr lang="en-GB" dirty="0"/>
              <a:t>Assimagbe Albert Raphael &amp; </a:t>
            </a:r>
            <a:r>
              <a:rPr lang="en-GB" dirty="0" err="1"/>
              <a:t>Saad</a:t>
            </a:r>
            <a:r>
              <a:rPr lang="en-GB" dirty="0"/>
              <a:t> Ali</a:t>
            </a:r>
          </a:p>
          <a:p>
            <a:pPr marL="0" indent="0" algn="ctr">
              <a:buNone/>
            </a:pPr>
            <a:r>
              <a:rPr lang="en-GB" dirty="0"/>
              <a:t>📊 Based on CDC H1N1 2009 Survey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338" y="6217920"/>
            <a:ext cx="822662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rPr dirty="0"/>
              <a:t>Slide 1 of </a:t>
            </a:r>
            <a:r>
              <a:rPr dirty="0" smtClean="0"/>
              <a:t>1</a:t>
            </a:r>
            <a:r>
              <a:rPr lang="en-GB" dirty="0"/>
              <a:t>0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b="1" dirty="0"/>
              <a:t>Goal: </a:t>
            </a:r>
            <a:r>
              <a:rPr dirty="0"/>
              <a:t>Predict flu vaccination using CDC survey data (26,707 records)</a:t>
            </a:r>
          </a:p>
          <a:p>
            <a:r>
              <a:rPr b="1" dirty="0"/>
              <a:t>Data Types: </a:t>
            </a:r>
            <a:r>
              <a:rPr dirty="0"/>
              <a:t>Behavior, demographics, health beliefs, and access to care</a:t>
            </a:r>
          </a:p>
          <a:p>
            <a:r>
              <a:rPr b="1" dirty="0"/>
              <a:t>Main Objectives</a:t>
            </a:r>
            <a:r>
              <a:rPr b="1" dirty="0" smtClean="0"/>
              <a:t>:</a:t>
            </a:r>
          </a:p>
          <a:p>
            <a:pPr marL="400050" lvl="1" indent="0">
              <a:buNone/>
            </a:pPr>
            <a:r>
              <a:rPr dirty="0"/>
              <a:t>- Identify factors affecting vaccine uptake</a:t>
            </a:r>
          </a:p>
          <a:p>
            <a:pPr marL="400050" lvl="1" indent="0">
              <a:buNone/>
            </a:pPr>
            <a:r>
              <a:rPr dirty="0"/>
              <a:t>- Build machine learning models</a:t>
            </a:r>
          </a:p>
          <a:p>
            <a:pPr marL="400050" lvl="1" indent="0">
              <a:buNone/>
            </a:pPr>
            <a:r>
              <a:rPr dirty="0"/>
              <a:t>- Recommend actions for public </a:t>
            </a:r>
            <a:r>
              <a:rPr dirty="0" smtClean="0"/>
              <a:t>health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8321338" y="6217920"/>
            <a:ext cx="822662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rPr dirty="0"/>
              <a:t>Slide 2 of </a:t>
            </a:r>
            <a:r>
              <a:rPr dirty="0" smtClean="0"/>
              <a:t>1</a:t>
            </a:r>
            <a:r>
              <a:rPr lang="en-GB" dirty="0"/>
              <a:t>0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Compare Label vs One-Hot Encoding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14396"/>
            <a:ext cx="4040188" cy="639762"/>
          </a:xfrm>
        </p:spPr>
        <p:txBody>
          <a:bodyPr/>
          <a:lstStyle/>
          <a:p>
            <a:r>
              <a:rPr lang="en-GB" dirty="0" smtClean="0"/>
              <a:t>Label Encoding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308993"/>
            <a:ext cx="4041775" cy="639762"/>
          </a:xfrm>
        </p:spPr>
        <p:txBody>
          <a:bodyPr/>
          <a:lstStyle/>
          <a:p>
            <a:r>
              <a:rPr lang="en-GB" dirty="0" smtClean="0"/>
              <a:t>One-Hot Encoding</a:t>
            </a:r>
            <a:endParaRPr lang="en-US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4375769" y="1903710"/>
            <a:ext cx="4035902" cy="1749704"/>
          </a:xfrm>
          <a:prstGeom prst="rect">
            <a:avLst/>
          </a:prstGeom>
        </p:spPr>
      </p:pic>
      <p:pic>
        <p:nvPicPr>
          <p:cNvPr id="7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398643" y="1954158"/>
            <a:ext cx="4040188" cy="15918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89415" y="3658817"/>
            <a:ext cx="8165170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4400" dirty="0"/>
              <a:t>Model Performance</a:t>
            </a:r>
          </a:p>
          <a:p>
            <a:endParaRPr lang="en-GB" dirty="0"/>
          </a:p>
          <a:p>
            <a:r>
              <a:rPr lang="en-GB" dirty="0"/>
              <a:t>Both encoding methods (Label vs One-Hot) gave identical results:</a:t>
            </a:r>
          </a:p>
          <a:p>
            <a:pPr lvl="1"/>
            <a:r>
              <a:rPr lang="en-GB" dirty="0"/>
              <a:t>- Accuracy: 85%</a:t>
            </a:r>
          </a:p>
          <a:p>
            <a:pPr lvl="1"/>
            <a:r>
              <a:rPr lang="en-GB" dirty="0"/>
              <a:t>- Prediction quality:</a:t>
            </a:r>
          </a:p>
          <a:p>
            <a:pPr lvl="2"/>
            <a:r>
              <a:rPr lang="en-GB" dirty="0"/>
              <a:t>  - Excellent at identifying who won't vaccinate (94% correct)</a:t>
            </a:r>
          </a:p>
          <a:p>
            <a:pPr lvl="2"/>
            <a:r>
              <a:rPr lang="en-GB" dirty="0"/>
              <a:t>  - Moderate at identifying who will vaccinate (48% correct)</a:t>
            </a:r>
          </a:p>
          <a:p>
            <a:endParaRPr lang="en-GB" dirty="0"/>
          </a:p>
        </p:txBody>
      </p:sp>
      <p:sp>
        <p:nvSpPr>
          <p:cNvPr id="11" name="Rectangle 10"/>
          <p:cNvSpPr/>
          <p:nvPr/>
        </p:nvSpPr>
        <p:spPr>
          <a:xfrm>
            <a:off x="8275468" y="6522056"/>
            <a:ext cx="82266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rPr lang="en-US" dirty="0"/>
              <a:t>Slide </a:t>
            </a:r>
            <a:r>
              <a:rPr lang="en-US" dirty="0" smtClean="0"/>
              <a:t>3 </a:t>
            </a:r>
            <a:r>
              <a:rPr lang="en-US" dirty="0"/>
              <a:t>of </a:t>
            </a:r>
            <a:r>
              <a:rPr lang="en-US" dirty="0" smtClean="0"/>
              <a:t>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4284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9075" y="791798"/>
            <a:ext cx="8229600" cy="1143000"/>
          </a:xfrm>
        </p:spPr>
        <p:txBody>
          <a:bodyPr>
            <a:noAutofit/>
          </a:bodyPr>
          <a:lstStyle/>
          <a:p>
            <a:r>
              <a:rPr lang="it-IT" dirty="0" smtClean="0"/>
              <a:t/>
            </a:r>
            <a:br>
              <a:rPr lang="it-IT" dirty="0" smtClean="0"/>
            </a:br>
            <a:r>
              <a:rPr lang="it-IT" dirty="0" smtClean="0"/>
              <a:t>Baseline </a:t>
            </a:r>
            <a:r>
              <a:rPr lang="it-IT" dirty="0"/>
              <a:t>Model Performance Comparison</a:t>
            </a:r>
            <a:br>
              <a:rPr lang="it-IT" dirty="0"/>
            </a:b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09075" y="2098805"/>
            <a:ext cx="8229600" cy="408365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04223" y="6464141"/>
            <a:ext cx="822662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rPr dirty="0"/>
              <a:t>Slide </a:t>
            </a:r>
            <a:r>
              <a:rPr lang="en-GB" dirty="0"/>
              <a:t>4</a:t>
            </a:r>
            <a:r>
              <a:rPr dirty="0" smtClean="0"/>
              <a:t> </a:t>
            </a:r>
            <a:r>
              <a:rPr dirty="0"/>
              <a:t>of </a:t>
            </a:r>
            <a:r>
              <a:rPr dirty="0" smtClean="0"/>
              <a:t>1</a:t>
            </a:r>
            <a:r>
              <a:rPr lang="en-GB" dirty="0"/>
              <a:t>0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31726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3324" y="562359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The </a:t>
            </a:r>
            <a:r>
              <a:rPr lang="en-GB" dirty="0"/>
              <a:t>Model </a:t>
            </a:r>
            <a:r>
              <a:rPr lang="en-GB" dirty="0" smtClean="0"/>
              <a:t>Comparator For H1N1 and Seasonal Results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44589" y="2274739"/>
            <a:ext cx="4040188" cy="2351629"/>
          </a:xfrm>
          <a:prstGeom prst="rect">
            <a:avLst/>
          </a:prstGeom>
        </p:spPr>
      </p:pic>
      <p:pic>
        <p:nvPicPr>
          <p:cNvPr id="11" name="Content Placeholder 10"/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4645025" y="2274739"/>
            <a:ext cx="4041775" cy="231978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321338" y="6285486"/>
            <a:ext cx="822662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rPr dirty="0"/>
              <a:t>Slide </a:t>
            </a:r>
            <a:r>
              <a:rPr lang="en-GB" dirty="0"/>
              <a:t>5</a:t>
            </a:r>
            <a:r>
              <a:rPr dirty="0" smtClean="0"/>
              <a:t> </a:t>
            </a:r>
            <a:r>
              <a:rPr dirty="0"/>
              <a:t>of </a:t>
            </a:r>
            <a:r>
              <a:rPr dirty="0" smtClean="0"/>
              <a:t>1</a:t>
            </a:r>
            <a:r>
              <a:rPr lang="en-GB" dirty="0"/>
              <a:t>0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570391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Model Performance Comparison Between Targets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t="4691"/>
          <a:stretch/>
        </p:blipFill>
        <p:spPr>
          <a:xfrm>
            <a:off x="937070" y="1675649"/>
            <a:ext cx="7749730" cy="440636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75469" y="6456934"/>
            <a:ext cx="822662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rPr dirty="0"/>
              <a:t>Slide </a:t>
            </a:r>
            <a:r>
              <a:rPr lang="en-GB" dirty="0"/>
              <a:t>6</a:t>
            </a:r>
            <a:r>
              <a:rPr dirty="0" smtClean="0"/>
              <a:t> </a:t>
            </a:r>
            <a:r>
              <a:rPr dirty="0"/>
              <a:t>of </a:t>
            </a:r>
            <a:r>
              <a:rPr dirty="0" smtClean="0"/>
              <a:t>1</a:t>
            </a:r>
            <a:r>
              <a:rPr lang="en-GB" dirty="0"/>
              <a:t>0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7346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8417"/>
            <a:ext cx="8229600" cy="1143000"/>
          </a:xfrm>
        </p:spPr>
        <p:txBody>
          <a:bodyPr>
            <a:noAutofit/>
          </a:bodyPr>
          <a:lstStyle/>
          <a:p>
            <a:r>
              <a:rPr dirty="0"/>
              <a:t>Strengths &amp; Weaknesses Of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338" y="6217920"/>
            <a:ext cx="822662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rPr dirty="0"/>
              <a:t>Slide </a:t>
            </a:r>
            <a:r>
              <a:rPr lang="en-GB" dirty="0"/>
              <a:t>7</a:t>
            </a:r>
            <a:r>
              <a:rPr lang="en-GB" dirty="0" smtClean="0"/>
              <a:t> </a:t>
            </a:r>
            <a:r>
              <a:rPr dirty="0" smtClean="0"/>
              <a:t>of </a:t>
            </a:r>
            <a:r>
              <a:rPr dirty="0" smtClean="0"/>
              <a:t>1</a:t>
            </a:r>
            <a:r>
              <a:rPr lang="en-GB" dirty="0"/>
              <a:t>0</a:t>
            </a:r>
            <a:endParaRPr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9659116"/>
              </p:ext>
            </p:extLst>
          </p:nvPr>
        </p:nvGraphicFramePr>
        <p:xfrm>
          <a:off x="1036020" y="2040509"/>
          <a:ext cx="6648543" cy="23017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6181"/>
                <a:gridCol w="2216181"/>
                <a:gridCol w="2216181"/>
              </a:tblGrid>
              <a:tr h="372569">
                <a:tc>
                  <a:txBody>
                    <a:bodyPr/>
                    <a:lstStyle/>
                    <a:p>
                      <a:r>
                        <a:rPr lang="en-GB" dirty="0" smtClean="0"/>
                        <a:t>Model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Strength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Weakness</a:t>
                      </a:r>
                      <a:endParaRPr lang="en-US" dirty="0"/>
                    </a:p>
                  </a:txBody>
                  <a:tcPr/>
                </a:tc>
              </a:tr>
              <a:tr h="643066">
                <a:tc>
                  <a:txBody>
                    <a:bodyPr/>
                    <a:lstStyle/>
                    <a:p>
                      <a:r>
                        <a:rPr lang="en-GB" dirty="0" smtClean="0"/>
                        <a:t>Random Forest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High</a:t>
                      </a:r>
                      <a:r>
                        <a:rPr lang="en-GB" baseline="0" dirty="0" smtClean="0"/>
                        <a:t> AUC, good overall balance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Higher memory usage</a:t>
                      </a:r>
                      <a:endParaRPr lang="en-US" dirty="0"/>
                    </a:p>
                  </a:txBody>
                  <a:tcPr/>
                </a:tc>
              </a:tr>
              <a:tr h="643066">
                <a:tc>
                  <a:txBody>
                    <a:bodyPr/>
                    <a:lstStyle/>
                    <a:p>
                      <a:r>
                        <a:rPr lang="en-GB" dirty="0" smtClean="0"/>
                        <a:t>Gradient Boost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High performance and F1 score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Longer training time</a:t>
                      </a:r>
                      <a:endParaRPr lang="en-US" dirty="0"/>
                    </a:p>
                  </a:txBody>
                  <a:tcPr/>
                </a:tc>
              </a:tr>
              <a:tr h="643066">
                <a:tc>
                  <a:txBody>
                    <a:bodyPr/>
                    <a:lstStyle/>
                    <a:p>
                      <a:r>
                        <a:rPr lang="en-GB" dirty="0" smtClean="0"/>
                        <a:t>Logistic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Very interpretable, fast, low memory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Slightly low recall</a:t>
                      </a:r>
                      <a:r>
                        <a:rPr lang="en-GB" baseline="0" dirty="0" smtClean="0"/>
                        <a:t> and AUC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19412"/>
            <a:ext cx="8229600" cy="1143000"/>
          </a:xfrm>
        </p:spPr>
        <p:txBody>
          <a:bodyPr>
            <a:noAutofit/>
          </a:bodyPr>
          <a:lstStyle/>
          <a:p>
            <a:r>
              <a:rPr lang="en-GB" dirty="0" smtClean="0"/>
              <a:t>Best </a:t>
            </a:r>
            <a:r>
              <a:rPr lang="en-GB" dirty="0"/>
              <a:t>Models by </a:t>
            </a:r>
            <a:r>
              <a:rPr lang="en-GB" dirty="0" smtClean="0"/>
              <a:t>Priority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19601"/>
            <a:ext cx="8229600" cy="40732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21338" y="6217920"/>
            <a:ext cx="822662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rPr dirty="0"/>
              <a:t>Slide </a:t>
            </a:r>
            <a:r>
              <a:rPr lang="en-GB" dirty="0"/>
              <a:t>8</a:t>
            </a:r>
            <a:r>
              <a:rPr dirty="0" smtClean="0"/>
              <a:t> </a:t>
            </a:r>
            <a:r>
              <a:rPr dirty="0"/>
              <a:t>of </a:t>
            </a:r>
            <a:r>
              <a:rPr dirty="0" smtClean="0"/>
              <a:t>1</a:t>
            </a:r>
            <a:r>
              <a:rPr lang="en-GB" dirty="0"/>
              <a:t>0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745760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487" y="662019"/>
            <a:ext cx="8229600" cy="1143000"/>
          </a:xfrm>
        </p:spPr>
        <p:txBody>
          <a:bodyPr/>
          <a:lstStyle/>
          <a:p>
            <a:r>
              <a:rPr dirty="0"/>
              <a:t>Model Selection Guide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487" y="2064158"/>
            <a:ext cx="8146268" cy="3494314"/>
          </a:xfrm>
        </p:spPr>
        <p:txBody>
          <a:bodyPr/>
          <a:lstStyle/>
          <a:p>
            <a:r>
              <a:rPr dirty="0"/>
              <a:t>Use Random Forest for real-world balance</a:t>
            </a:r>
          </a:p>
          <a:p>
            <a:r>
              <a:rPr dirty="0"/>
              <a:t>Use Gradient Boosting when accuracy is priority</a:t>
            </a:r>
          </a:p>
          <a:p>
            <a:r>
              <a:rPr dirty="0"/>
              <a:t>Use Logistic Regression when interpretability </a:t>
            </a:r>
            <a:r>
              <a:rPr dirty="0" smtClean="0"/>
              <a:t>matters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8321338" y="6217920"/>
            <a:ext cx="822662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rPr dirty="0"/>
              <a:t>Slide </a:t>
            </a:r>
            <a:r>
              <a:rPr lang="en-GB" dirty="0"/>
              <a:t>9</a:t>
            </a:r>
            <a:r>
              <a:rPr dirty="0" smtClean="0"/>
              <a:t> </a:t>
            </a:r>
            <a:r>
              <a:rPr dirty="0"/>
              <a:t>of </a:t>
            </a:r>
            <a:r>
              <a:rPr dirty="0" smtClean="0"/>
              <a:t>1</a:t>
            </a:r>
            <a:r>
              <a:rPr lang="en-GB" dirty="0"/>
              <a:t>0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 smtClean="0"/>
              <a:t>Gradient </a:t>
            </a:r>
            <a:r>
              <a:rPr dirty="0"/>
              <a:t>Boosting and Random Forest are top models</a:t>
            </a:r>
          </a:p>
          <a:p>
            <a:r>
              <a:rPr dirty="0"/>
              <a:t>Model insights can guide smarter public health actions</a:t>
            </a:r>
          </a:p>
          <a:p>
            <a:r>
              <a:rPr dirty="0"/>
              <a:t>Future work will focus on visualization and </a:t>
            </a:r>
            <a:r>
              <a:rPr dirty="0" smtClean="0"/>
              <a:t>deployment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8255615" y="6217920"/>
            <a:ext cx="88838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rPr dirty="0"/>
              <a:t>Slide </a:t>
            </a:r>
            <a:r>
              <a:rPr dirty="0" smtClean="0"/>
              <a:t>1</a:t>
            </a:r>
            <a:r>
              <a:rPr lang="en-GB" dirty="0"/>
              <a:t>0</a:t>
            </a:r>
            <a:r>
              <a:rPr dirty="0" smtClean="0"/>
              <a:t> </a:t>
            </a:r>
            <a:r>
              <a:rPr dirty="0"/>
              <a:t>of </a:t>
            </a:r>
            <a:r>
              <a:rPr dirty="0" smtClean="0"/>
              <a:t>1</a:t>
            </a:r>
            <a:r>
              <a:rPr lang="en-GB" dirty="0"/>
              <a:t>0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287</Words>
  <Application>Microsoft Office PowerPoint</Application>
  <PresentationFormat>On-screen Show (4:3)</PresentationFormat>
  <Paragraphs>56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Sprint 2: Flu Vaccination Predictor Project</vt:lpstr>
      <vt:lpstr>Project Overview</vt:lpstr>
      <vt:lpstr>Compare Label vs One-Hot Encoding</vt:lpstr>
      <vt:lpstr> Baseline Model Performance Comparison </vt:lpstr>
      <vt:lpstr>The Model Comparator For H1N1 and Seasonal Results</vt:lpstr>
      <vt:lpstr>Model Performance Comparison Between Targets</vt:lpstr>
      <vt:lpstr>Strengths &amp; Weaknesses Of Models</vt:lpstr>
      <vt:lpstr>Best Models by Priority</vt:lpstr>
      <vt:lpstr>Model Selection Guide</vt:lpstr>
      <vt:lpstr>Conclusion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Sprint 2: Flu Vaccination Predictor Project</dc:title>
  <dc:subject/>
  <dc:creator>Albert Raphael Assimagbe</dc:creator>
  <cp:keywords/>
  <dc:description>generated using python-pptx</dc:description>
  <cp:lastModifiedBy>Albert Raphael Assimagbe</cp:lastModifiedBy>
  <cp:revision>19</cp:revision>
  <dcterms:created xsi:type="dcterms:W3CDTF">2013-01-27T09:14:16Z</dcterms:created>
  <dcterms:modified xsi:type="dcterms:W3CDTF">2025-05-26T18:32:22Z</dcterms:modified>
  <cp:category/>
</cp:coreProperties>
</file>